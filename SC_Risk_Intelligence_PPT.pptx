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91440" cy="663854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05A28"/>
                </a:solidFill>
              </a:rPr>
              <a:t>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143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5A28"/>
                </a:solidFill>
              </a:rPr>
              <a:t>PRODAPT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27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3BB"/>
                </a:solidFill>
              </a:rPr>
              <a:t>Capstone Project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103120"/>
            <a:ext cx="8686800" cy="2743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AI-Powered Supply Chain
Risk Intelligence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3E8"/>
                </a:solidFill>
              </a:rPr>
              <a:t>Natural language queries  ·  RAG retrieval  ·  Multi-Agent AI  ·  Anomaly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1828800" cy="384048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Python 3.13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5029200"/>
            <a:ext cx="1828800" cy="384048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FastAPI 0.136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5029200"/>
            <a:ext cx="1828800" cy="384048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OpenAI GPT-4o-mini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5029200"/>
            <a:ext cx="1828800" cy="384048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all-MiniLM + BM25 + NumPy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The intelligence gap in global supply chain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6692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" cy="21031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61"/>
                </a:solidFill>
              </a:rPr>
              <a:t>Distributed Data Silos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874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Operational data scattered across procurement, warehouse, logistics
and vendor platforms — impossible to query holistically.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6692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54864" cy="21031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61"/>
                </a:solidFill>
              </a:rPr>
              <a:t>Reactive Monitoring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874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Traditional systems trigger alerts only after thresholds breach.
No predictive capability for emerging disruption patterns.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49040"/>
            <a:ext cx="56692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749040"/>
            <a:ext cx="54864" cy="21031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886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61"/>
                </a:solidFill>
              </a:rPr>
              <a:t>Manual Analysis 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251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Operations teams spend hours consolidating reports to understand
risk — by the time insights arrive, disruptions have escalated.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749040"/>
            <a:ext cx="566928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749040"/>
            <a:ext cx="54864" cy="2103120"/>
          </a:xfrm>
          <a:prstGeom prst="rect">
            <a:avLst/>
          </a:prstGeom>
          <a:solidFill>
            <a:srgbClr val="C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886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461"/>
                </a:solidFill>
              </a:rPr>
              <a:t>Five Critical 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2519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Supplier delays  ·  Port congestion  ·  Stockout risk
Transportation cost spikes  ·  Demand surge bottlenecks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AI-powered intelligence that transforms reactive monitoring into proactive resilience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2038"/>
                </a:solidFill>
              </a:rPr>
              <a:t>Operations teams can now query historical incidents in natural language,
receive AI-generated risk assessments, and get explainable mitigation strategies
— all within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3657600" cy="1828800"/>
          </a:xfrm>
          <a:prstGeom prst="rect">
            <a:avLst/>
          </a:prstGeom>
          <a:solidFill>
            <a:srgbClr val="EEF2F8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38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461"/>
                </a:solidFill>
              </a:rPr>
              <a:t>Natural Language
Incident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Describe disruptions conversationally.
Semantics + keywords.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377440"/>
            <a:ext cx="3657600" cy="1828800"/>
          </a:xfrm>
          <a:prstGeom prst="rect">
            <a:avLst/>
          </a:prstGeom>
          <a:solidFill>
            <a:srgbClr val="EEF2F8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38"/>
                </a:solidFill>
              </a:rP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514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461"/>
                </a:solidFill>
              </a:rPr>
              <a:t>4-Dimension
Risk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108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Supplier 35% · Inventory 30%
Shipment 25% · Demand 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657600" cy="1828800"/>
          </a:xfrm>
          <a:prstGeom prst="rect">
            <a:avLst/>
          </a:prstGeom>
          <a:solidFill>
            <a:srgbClr val="EEF2F8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38"/>
                </a:solidFill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514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461"/>
                </a:solidFill>
              </a:rPr>
              <a:t>Multi-Agent
Parallel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4 specialist agents run concurrently
with A2A escalation.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3657600" cy="1828800"/>
          </a:xfrm>
          <a:prstGeom prst="rect">
            <a:avLst/>
          </a:prstGeom>
          <a:solidFill>
            <a:srgbClr val="EEF2F8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38"/>
                </a:solidFill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572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461"/>
                </a:solidFill>
              </a:rPr>
              <a:t>Explainable
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66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Every recommendation traces back
to historical evidence.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434840"/>
            <a:ext cx="3657600" cy="1828800"/>
          </a:xfrm>
          <a:prstGeom prst="rect">
            <a:avLst/>
          </a:prstGeom>
          <a:solidFill>
            <a:srgbClr val="EEF2F8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38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572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461"/>
                </a:solidFill>
              </a:rPr>
              <a:t>Anomaly
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166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IsolationForest flags statistical
anomalies proactively.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434840"/>
            <a:ext cx="3657600" cy="1828800"/>
          </a:xfrm>
          <a:prstGeom prst="rect">
            <a:avLst/>
          </a:prstGeom>
          <a:solidFill>
            <a:srgbClr val="EEF2F8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038"/>
                </a:solidFill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4572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3461"/>
                </a:solidFill>
              </a:rPr>
              <a:t>Evaluation
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166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DeepEval RAG metrics +
LLM-as-Judge quality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Layered microservice design (TECHNICAL_DOCUMENT.md §2) — each layer independently replaceable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11430000" cy="53035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081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FRONTEND  (5-Tab SPA — Zero dependency HTML/CSS/JS)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435608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4356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5A28"/>
                </a:solidFill>
              </a:rPr>
              <a:t>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0528" y="1435608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4356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5A28"/>
                </a:solidFill>
              </a:rPr>
              <a:t>Recommendations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8976" y="1435608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6" y="14356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5A28"/>
                </a:solidFill>
              </a:rPr>
              <a:t>Multi-Agent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07424" y="1435608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4356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5A28"/>
                </a:solidFill>
              </a:rPr>
              <a:t>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05872" y="1435608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05872" y="14356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5A28"/>
                </a:solidFill>
              </a:rPr>
              <a:t>Anomalies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9385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5A28"/>
                </a:solidFill>
              </a:rPr>
              <a:t>▼  HTTP / 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12848"/>
            <a:ext cx="11430000" cy="54864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311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28"/>
                </a:solidFill>
              </a:rPr>
              <a:t>FASTAPI APPLICATION  /api/v1  (9 endpoints)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258568"/>
            <a:ext cx="1664208" cy="347472"/>
          </a:xfrm>
          <a:prstGeom prst="rect">
            <a:avLst/>
          </a:prstGeom>
          <a:solidFill>
            <a:srgbClr val="243D72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25856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/search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3368" y="2258568"/>
            <a:ext cx="1664208" cy="347472"/>
          </a:xfrm>
          <a:prstGeom prst="rect">
            <a:avLst/>
          </a:prstGeom>
          <a:solidFill>
            <a:srgbClr val="243D72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25856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/recommendations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4736" y="2258568"/>
            <a:ext cx="1664208" cy="347472"/>
          </a:xfrm>
          <a:prstGeom prst="rect">
            <a:avLst/>
          </a:prstGeom>
          <a:solidFill>
            <a:srgbClr val="243D72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225856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/agents/analyze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76104" y="2258568"/>
            <a:ext cx="1664208" cy="347472"/>
          </a:xfrm>
          <a:prstGeom prst="rect">
            <a:avLst/>
          </a:prstGeom>
          <a:solidFill>
            <a:srgbClr val="243D72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76104" y="2258568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/analytics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77977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8D3E8"/>
                </a:solidFill>
              </a:rPr>
              <a:t>▼  Routes to Services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17520"/>
            <a:ext cx="2743200" cy="59436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017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RAG Service
(search)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3017520"/>
            <a:ext cx="2743200" cy="59436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3017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RAG Service
(generate+recommend)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017520"/>
            <a:ext cx="2743200" cy="594360"/>
          </a:xfrm>
          <a:prstGeom prst="rect">
            <a:avLst/>
          </a:prstGeom>
          <a:solidFill>
            <a:srgbClr val="2E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0175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Orchestrator
(multi-agent)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3017520"/>
            <a:ext cx="2788920" cy="594360"/>
          </a:xfrm>
          <a:prstGeom prst="rect">
            <a:avLst/>
          </a:prstGeom>
          <a:solidFill>
            <a:srgbClr val="2E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301752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Analytics Service
(dashboard/anomalies)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36301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8D3E8"/>
                </a:solidFill>
              </a:rPr>
              <a:t>▼  Shared Core Services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867912"/>
            <a:ext cx="11430000" cy="566928"/>
          </a:xfrm>
          <a:prstGeom prst="rect">
            <a:avLst/>
          </a:prstGeom>
          <a:solidFill>
            <a:srgbClr val="182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886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5A28"/>
                </a:solidFill>
              </a:rPr>
              <a:t>CORE SERVICES LAYER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904487"/>
            <a:ext cx="2743200" cy="475488"/>
          </a:xfrm>
          <a:prstGeom prst="rect">
            <a:avLst/>
          </a:prstGeom>
          <a:solidFill>
            <a:srgbClr val="243D72"/>
          </a:solidFill>
          <a:ln w="889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904487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HybridSearch
(BM25 + RRF)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3904487"/>
            <a:ext cx="2743200" cy="475488"/>
          </a:xfrm>
          <a:prstGeom prst="rect">
            <a:avLst/>
          </a:prstGeom>
          <a:solidFill>
            <a:srgbClr val="243D72"/>
          </a:solidFill>
          <a:ln w="889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3904487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RiskScoring
(4-dimension)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904487"/>
            <a:ext cx="2743200" cy="475488"/>
          </a:xfrm>
          <a:prstGeom prst="rect">
            <a:avLst/>
          </a:prstGeom>
          <a:solidFill>
            <a:srgbClr val="243D72"/>
          </a:solidFill>
          <a:ln w="889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904487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Guardrails
(validation)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3904487"/>
            <a:ext cx="2743200" cy="475488"/>
          </a:xfrm>
          <a:prstGeom prst="rect">
            <a:avLst/>
          </a:prstGeom>
          <a:solidFill>
            <a:srgbClr val="243D72"/>
          </a:solidFill>
          <a:ln w="889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3904487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TokenOptimizer
(tiktoken)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526280"/>
            <a:ext cx="5303520" cy="987552"/>
          </a:xfrm>
          <a:prstGeom prst="rect">
            <a:avLst/>
          </a:prstGeom>
          <a:solidFill>
            <a:srgbClr val="122248"/>
          </a:solidFill>
          <a:ln w="12700">
            <a:solidFill>
              <a:srgbClr val="243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553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5A28"/>
                </a:solidFill>
              </a:rPr>
              <a:t>NUMPY VECTOR STORE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3E8"/>
                </a:solidFill>
              </a:rPr>
              <a:t>embeddings.npy  ·  documents.json  ·  BM25 Index
all-MiniLM-L6-v2 (384-dim) · store_meta.json (dimension guard)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526280"/>
            <a:ext cx="5303520" cy="987552"/>
          </a:xfrm>
          <a:prstGeom prst="rect">
            <a:avLst/>
          </a:prstGeom>
          <a:solidFill>
            <a:srgbClr val="F05A28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45537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OPENAI GPT-4o-mini  (via keygateway · SSL-off)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E8D8"/>
                </a:solidFill>
              </a:rPr>
              <a:t>• Recommendation generation (chat.completions, max_tokens=500)
• Multi-agent tool use (function calling)  ·  LLM-as-judge evaluation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623560"/>
            <a:ext cx="11430000" cy="594360"/>
          </a:xfrm>
          <a:prstGeom prst="rect">
            <a:avLst/>
          </a:prstGeom>
          <a:solidFill>
            <a:srgbClr val="0A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6509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5A28"/>
                </a:solidFill>
              </a:rPr>
              <a:t>DATA LAYER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5650992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D3E8"/>
                </a:solidFill>
              </a:rPr>
              <a:t>supply_chain_data.csv (600 incidents)  →  Preprocessing (coerce/enrich)  →  Chunking (tiktoken)  →  Embeddings  →  VectorStore upsert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Flow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From raw CSV incidents to explainable AI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28"/>
                </a:solidFill>
              </a:rPr>
              <a:t>DATA INGESTION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1737360" cy="82296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CSV
600 Incidents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65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737360"/>
            <a:ext cx="1737360" cy="82296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7373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Preprocess
&amp; Enrich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965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1737360" cy="82296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Chunk
+ Tokenize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965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37360"/>
            <a:ext cx="1737360" cy="82296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7373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Encode
Embeddings
384-dim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965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37360"/>
            <a:ext cx="1737360" cy="82296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7373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NumPy
VectorStore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965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60" y="1737360"/>
            <a:ext cx="1737360" cy="82296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17373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BM25
Index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97480"/>
            <a:ext cx="11430000" cy="27432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28"/>
                </a:solidFill>
              </a:rPr>
              <a:t>QUERY &amp; RESPONSE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090672"/>
            <a:ext cx="1371600" cy="82296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09067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
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3319272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10512" y="3090672"/>
            <a:ext cx="1371600" cy="822960"/>
          </a:xfrm>
          <a:prstGeom prst="rect">
            <a:avLst/>
          </a:prstGeom>
          <a:solidFill>
            <a:srgbClr val="C4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0512" y="309067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Guardrails
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2112" y="3319272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00984" y="3090672"/>
            <a:ext cx="1371600" cy="82296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00984" y="309067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Hybrid
Search
BM25+Sem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2584" y="3319272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91456" y="3090672"/>
            <a:ext cx="1371600" cy="82296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91456" y="309067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RRF
Fusion
+ Rerank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3056" y="3319272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1928" y="3090672"/>
            <a:ext cx="1371600" cy="82296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309067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Token
Budget
Optimize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53528" y="3319272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3090672"/>
            <a:ext cx="1371600" cy="82296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309067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Risk
Score
4-Dim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319272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62872" y="3090672"/>
            <a:ext cx="1371600" cy="82296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2872" y="309067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GPT-4o-mini
Generate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4472" y="3319272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53344" y="3090672"/>
            <a:ext cx="1371600" cy="82296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53344" y="309067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Parse &amp;
Return
Response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5A28"/>
                </a:solidFill>
              </a:rPr>
              <a:t>MULTI-AGENT PARALLEL FLOW  (A2A Escalation)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434840"/>
            <a:ext cx="2926080" cy="73152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Supplier
Risk 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4434840"/>
            <a:ext cx="2926080" cy="73152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6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Shipment
Analysis Agent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4434840"/>
            <a:ext cx="2926080" cy="731520"/>
          </a:xfrm>
          <a:prstGeom prst="rect">
            <a:avLst/>
          </a:prstGeom>
          <a:solidFill>
            <a:srgbClr val="2E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Inventory
Intelligence 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5230368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5A28"/>
                </a:solidFill>
              </a:rPr>
              <a:t>↓  ↓  ↓  A2A Escalation  ↓  ↓  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559552"/>
            <a:ext cx="4114800" cy="6858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5559552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Recommendation Agent  →  Consolidated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8-stage Retrieve-Augment-Generate pipeline with hybrid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411480" cy="41148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56232"/>
            <a:ext cx="2743200" cy="169164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476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 Query
Received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3347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3E8"/>
                </a:solidFill>
              </a:rPr>
              <a:t>Natural language input
from operations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5059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44752"/>
            <a:ext cx="411480" cy="41148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444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856232"/>
            <a:ext cx="2743200" cy="1691640"/>
          </a:xfrm>
          <a:prstGeom prst="rect">
            <a:avLst/>
          </a:prstGeom>
          <a:solidFill>
            <a:srgbClr val="C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9476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Guardrails
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63347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3E8"/>
                </a:solidFill>
              </a:rPr>
              <a:t>Injection detection
Domain relevance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45059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444752"/>
            <a:ext cx="411480" cy="41148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444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56232"/>
            <a:ext cx="2743200" cy="169164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9476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Hybrid Search
BM25 + Semantic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3347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3E8"/>
                </a:solidFill>
              </a:rPr>
              <a:t>Parallel BM25 + cosine ANN
Merged via RRF (α=0.5)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45059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444752"/>
            <a:ext cx="411480" cy="41148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4447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856232"/>
            <a:ext cx="2743200" cy="1691640"/>
          </a:xfrm>
          <a:prstGeom prst="rect">
            <a:avLst/>
          </a:prstGeom>
          <a:solidFill>
            <a:srgbClr val="2E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19476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Logistics
Reranking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63347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3E8"/>
                </a:solidFill>
              </a:rPr>
              <a:t>+0.05 boost per matching
domain field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822192"/>
            <a:ext cx="411480" cy="41148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822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233672"/>
            <a:ext cx="2743200" cy="1691640"/>
          </a:xfrm>
          <a:prstGeom prst="rect">
            <a:avLst/>
          </a:prstGeom>
          <a:solidFill>
            <a:srgbClr val="365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3251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Token Budget
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0109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3E8"/>
                </a:solidFill>
              </a:rPr>
              <a:t>tiktoken cl100k_base
max 8000 token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82803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822192"/>
            <a:ext cx="411480" cy="41148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822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233672"/>
            <a:ext cx="2743200" cy="169164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43251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4-Dim Risk
Scoring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0109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3E8"/>
                </a:solidFill>
              </a:rPr>
              <a:t>Supplier · Inventory
Shipment ·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82803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822192"/>
            <a:ext cx="411480" cy="41148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822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233672"/>
            <a:ext cx="2743200" cy="169164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3251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GPT-4o-mini
Generation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0109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3E8"/>
                </a:solidFill>
              </a:rPr>
              <a:t>Structured prompt injection
PRIORITY 1-5 output format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828032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5A28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3822192"/>
            <a:ext cx="411480" cy="41148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3822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4233672"/>
            <a:ext cx="2743200" cy="169164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32511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Parse &amp;
Return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5010912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3E8"/>
                </a:solidFill>
              </a:rPr>
              <a:t>Regex extraction
Fallback to plain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Multi-Agent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Parallel specialist agents with Agent-to-Agent (A2A) escalation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417320"/>
            <a:ext cx="3200400" cy="658368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  Multi-Agent Orchestrator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749039" cy="658368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1732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Hybrid Search  →  Context Docs (top 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5A28"/>
                </a:solidFill>
              </a:rPr>
              <a:t>↓  ThreadPoolExecutor (max_workers=3) 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3657600" cy="169164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Supplier
Risk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D3E8"/>
                </a:solidFill>
              </a:rPr>
              <a:t>get_supplier_history()
Delay · SLA · Dependency
Escalate if risk &gt; 0.7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606040"/>
            <a:ext cx="3657600" cy="169164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Shipment
Analysis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D3E8"/>
                </a:solidFill>
              </a:rPr>
              <a:t>get_route_status()
Port · Carrier · Customs
Root cause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606040"/>
            <a:ext cx="3657600" cy="1691640"/>
          </a:xfrm>
          <a:prstGeom prst="rect">
            <a:avLst/>
          </a:prstGeom>
          <a:solidFill>
            <a:srgbClr val="2E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Inventory
Intelligence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D3E8"/>
                </a:solidFill>
              </a:rPr>
              <a:t>check_inventory()
get_demand_forecast()
Stockout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074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5A28"/>
                </a:solidFill>
              </a:rPr>
              <a:t>⚡  A2A Escalation Chain  (risk &gt; 0.7 → RecommendationAgent → Director if &gt; 0.85)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4846320"/>
            <a:ext cx="5760720" cy="77724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84632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  Recommendation Agent  —  Synthesise · Consolidate · Proactive Alerts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5715000"/>
            <a:ext cx="7040880" cy="658368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5715000"/>
            <a:ext cx="7040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8D3E8"/>
                </a:solidFill>
              </a:rPr>
              <a:t>OrchestratorResponse  ·  consolidated_risk  ·  escalation_chain  ·  proactive_alerts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Production-grade open-source stack running on Python 3.13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41148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721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577840" cy="1691640"/>
          </a:xfrm>
          <a:prstGeom prst="rect">
            <a:avLst/>
          </a:prstGeom>
          <a:solidFill>
            <a:srgbClr val="EEF2F8"/>
          </a:solidFill>
          <a:ln w="1270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5681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9202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FastAPI 0.136  —  REST API + OpenAPI docs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5973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24231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Uvicorn  —  ASGI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6265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92608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Pydantic v2  —  Request/response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5577840" cy="41148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721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/ 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5577840" cy="1691640"/>
          </a:xfrm>
          <a:prstGeom prst="rect">
            <a:avLst/>
          </a:prstGeom>
          <a:solidFill>
            <a:srgbClr val="EEF2F8"/>
          </a:solidFill>
          <a:ln w="1270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5681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192024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OpenAI GPT-4o-mini  —  Chat completions via gateway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45973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24231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OpenAI API SDK 1.55  —  Function calling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96265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292608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DeepEval (optional)  —  RAG quality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49040"/>
            <a:ext cx="5577840" cy="41148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039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Retrieval &amp;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60520"/>
            <a:ext cx="5577840" cy="1691640"/>
          </a:xfrm>
          <a:prstGeom prst="rect">
            <a:avLst/>
          </a:prstGeom>
          <a:solidFill>
            <a:srgbClr val="EEF2F8"/>
          </a:solidFill>
          <a:ln w="12700">
            <a:solidFill>
              <a:srgbClr val="243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8853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42519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all-MiniLM-L6-v2  —  384-dim sentence embeddings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9145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475488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BM25Okapi  —  Sparse keyword retrieval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9437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52578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RRF Fusion  —  Reciprocal Rank Fusion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749040"/>
            <a:ext cx="5577840" cy="411480"/>
          </a:xfrm>
          <a:prstGeom prst="rect">
            <a:avLst/>
          </a:prstGeom>
          <a:solidFill>
            <a:srgbClr val="2E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8039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Vector Store &amp;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160520"/>
            <a:ext cx="5577840" cy="1691640"/>
          </a:xfrm>
          <a:prstGeom prst="rect">
            <a:avLst/>
          </a:prstGeom>
          <a:solidFill>
            <a:srgbClr val="EEF2F8"/>
          </a:solidFill>
          <a:ln w="12700">
            <a:solidFill>
              <a:srgbClr val="2E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28853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425196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NumPy + JSON  —  Pure-Python vector store (no MSVC)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79145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475488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tiktoken cl100k_base  —  Token budget mgmt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294376"/>
            <a:ext cx="54864" cy="27432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52578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38"/>
                </a:solidFill>
              </a:rPr>
              <a:t>Pandas + scikit-learn  —  Data processing + IsolationForest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Dual validation: DeepEval RAG metrics + custom LLM-as-Judge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457200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DeepEval — RAG Quality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5394960" cy="59436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391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61"/>
                </a:solidFill>
              </a:rPr>
              <a:t>Answer Relevancy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39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38"/>
                </a:solidFill>
              </a:rPr>
              <a:t>Does the response answer the query?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057400"/>
            <a:ext cx="594360" cy="38404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05740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≥ 0.5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24328"/>
            <a:ext cx="5394960" cy="59436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61"/>
                </a:solidFill>
              </a:rPr>
              <a:t>Faithfulness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697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38"/>
                </a:solidFill>
              </a:rPr>
              <a:t>Are claims grounded in retrieved context? (anti-hallucination)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715768"/>
            <a:ext cx="594360" cy="38404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715768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≥ 0.5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82696"/>
            <a:ext cx="5394960" cy="59436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5584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61"/>
                </a:solidFill>
              </a:rPr>
              <a:t>Contextual 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3558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38"/>
                </a:solidFill>
              </a:rPr>
              <a:t>Are retrieved documents relevant to the question?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3374136"/>
            <a:ext cx="594360" cy="38404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3374136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≥ 0.5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41064"/>
            <a:ext cx="5394960" cy="59436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1421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61"/>
                </a:solidFill>
              </a:rPr>
              <a:t>Contextual Recall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0142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38"/>
                </a:solidFill>
              </a:rPr>
              <a:t>Does context cover all necessary information?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4032504"/>
            <a:ext cx="594360" cy="38404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032504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≥ 0.5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417320"/>
            <a:ext cx="5577840" cy="457200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LLM-as-Judge — Business Quality Scoring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965960"/>
            <a:ext cx="5577840" cy="594360"/>
          </a:xfrm>
          <a:prstGeom prst="rect">
            <a:avLst/>
          </a:prstGeom>
          <a:solidFill>
            <a:srgbClr val="EEF2F8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03911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28"/>
                </a:solidFill>
              </a:rPr>
              <a:t>Relevance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0391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38"/>
                </a:solidFill>
              </a:rPr>
              <a:t>Are recs tied to the identified risk?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461"/>
                </a:solidFill>
              </a:rPr>
              <a:t>0–10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624328"/>
            <a:ext cx="5577840" cy="594360"/>
          </a:xfrm>
          <a:prstGeom prst="rect">
            <a:avLst/>
          </a:prstGeom>
          <a:solidFill>
            <a:srgbClr val="EEF2F8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2697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28"/>
                </a:solidFill>
              </a:rPr>
              <a:t>Actionability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2697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38"/>
                </a:solidFill>
              </a:rPr>
              <a:t>Can teams execute these immediately?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27614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461"/>
                </a:solidFill>
              </a:rPr>
              <a:t>0–10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282696"/>
            <a:ext cx="5577840" cy="594360"/>
          </a:xfrm>
          <a:prstGeom prst="rect">
            <a:avLst/>
          </a:prstGeom>
          <a:solidFill>
            <a:srgbClr val="EEF2F8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3558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28"/>
                </a:solidFill>
              </a:rPr>
              <a:t>Completeness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355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38"/>
                </a:solidFill>
              </a:rPr>
              <a:t>All risk dimensions addressed?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34198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461"/>
                </a:solidFill>
              </a:rPr>
              <a:t>0–10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941064"/>
            <a:ext cx="5577840" cy="594360"/>
          </a:xfrm>
          <a:prstGeom prst="rect">
            <a:avLst/>
          </a:prstGeom>
          <a:solidFill>
            <a:srgbClr val="EEF2F8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01421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28"/>
                </a:solidFill>
              </a:rPr>
              <a:t>Feasibility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0142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38"/>
                </a:solidFill>
              </a:rPr>
              <a:t>Realistic timelines and owners?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40782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461"/>
                </a:solidFill>
              </a:rPr>
              <a:t>0–10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599432"/>
            <a:ext cx="5577840" cy="594360"/>
          </a:xfrm>
          <a:prstGeom prst="rect">
            <a:avLst/>
          </a:prstGeom>
          <a:solidFill>
            <a:srgbClr val="EEF2F8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46725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5A28"/>
                </a:solidFill>
              </a:rPr>
              <a:t>Evidence-Based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46725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38"/>
                </a:solidFill>
              </a:rPr>
              <a:t>Grounded in historical incidents?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47365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461"/>
                </a:solidFill>
              </a:rPr>
              <a:t>0–10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461"/>
                </a:solidFill>
              </a:rPr>
              <a:t>Verdict: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285232"/>
            <a:ext cx="1645920" cy="384048"/>
          </a:xfrm>
          <a:prstGeom prst="rect">
            <a:avLst/>
          </a:prstGeom>
          <a:solidFill>
            <a:srgbClr val="0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52852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APPROVED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2" y="5285232"/>
            <a:ext cx="1783080" cy="384048"/>
          </a:xfrm>
          <a:prstGeom prst="rect">
            <a:avLst/>
          </a:prstGeom>
          <a:solidFill>
            <a:srgbClr val="C4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2" y="52852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2038"/>
                </a:solidFill>
              </a:rPr>
              <a:t>NEEDS IMPROVEMENT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4" y="5285232"/>
            <a:ext cx="1645920" cy="384048"/>
          </a:xfrm>
          <a:prstGeom prst="rect">
            <a:avLst/>
          </a:prstGeom>
          <a:solidFill>
            <a:srgbClr val="C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4" y="52852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REJECTED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Fallback &amp; Resilience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9 graceful degradation patterns — system never fails silently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3657600" cy="347472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Embedding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92224"/>
            <a:ext cx="3657600" cy="1188720"/>
          </a:xfrm>
          <a:prstGeom prst="rect">
            <a:avLst/>
          </a:prstGeom>
          <a:solidFill>
            <a:srgbClr val="EEF2F8"/>
          </a:solidFill>
          <a:ln w="1016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56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A9A"/>
                </a:solidFill>
              </a:rPr>
              <a:t>Trigger: OpenAI /embeddings unreachable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677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038"/>
                </a:solidFill>
              </a:rPr>
              <a:t>→  Local all-MiniLM-L6-v2 (384-dim, no API)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44752"/>
            <a:ext cx="3657600" cy="34747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813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Vector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92224"/>
            <a:ext cx="3657600" cy="118872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856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A9A"/>
                </a:solidFill>
              </a:rPr>
              <a:t>Trigger: Model or dimension 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677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038"/>
                </a:solidFill>
              </a:rPr>
              <a:t>→  Auto-clear stale index + re-ingest on startup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44752"/>
            <a:ext cx="3657600" cy="347472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813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LLM Parsing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92224"/>
            <a:ext cx="3657600" cy="1188720"/>
          </a:xfrm>
          <a:prstGeom prst="rect">
            <a:avLst/>
          </a:prstGeom>
          <a:solidFill>
            <a:srgbClr val="EEF2F8"/>
          </a:solidFill>
          <a:ln w="10160">
            <a:solidFill>
              <a:srgbClr val="243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56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A9A"/>
                </a:solidFill>
              </a:rPr>
              <a:t>Trigger: No PRIORITY blocks in GPT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677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038"/>
                </a:solidFill>
              </a:rPr>
              <a:t>→  First 5 lines wrapped as generic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90672"/>
            <a:ext cx="3657600" cy="347472"/>
          </a:xfrm>
          <a:prstGeom prst="rect">
            <a:avLst/>
          </a:prstGeom>
          <a:solidFill>
            <a:srgbClr val="2E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272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DeepEval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38144"/>
            <a:ext cx="3657600" cy="1188720"/>
          </a:xfrm>
          <a:prstGeom prst="rect">
            <a:avLst/>
          </a:prstGeom>
          <a:solidFill>
            <a:srgbClr val="EEF2F8"/>
          </a:solidFill>
          <a:ln w="10160">
            <a:solidFill>
              <a:srgbClr val="2E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02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A9A"/>
                </a:solidFill>
              </a:rPr>
              <a:t>Trigger: Library not installed / API 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136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038"/>
                </a:solidFill>
              </a:rPr>
              <a:t>→  Placeholder scores (0.70–0.80) with note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090672"/>
            <a:ext cx="3657600" cy="347472"/>
          </a:xfrm>
          <a:prstGeom prst="rect">
            <a:avLst/>
          </a:prstGeom>
          <a:solidFill>
            <a:srgbClr val="C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1272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Agent Crash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438144"/>
            <a:ext cx="3657600" cy="1188720"/>
          </a:xfrm>
          <a:prstGeom prst="rect">
            <a:avLst/>
          </a:prstGeom>
          <a:solidFill>
            <a:srgbClr val="EEF2F8"/>
          </a:solidFill>
          <a:ln w="10160">
            <a:solidFill>
              <a:srgbClr val="C82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3502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A9A"/>
                </a:solidFill>
              </a:rPr>
              <a:t>Trigger: Agent timeout (60s) or exception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9136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038"/>
                </a:solidFill>
              </a:rPr>
              <a:t>→  Stub AgentResult (risk=0.0, manual review)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090672"/>
            <a:ext cx="3657600" cy="34747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1272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Agent Routing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438144"/>
            <a:ext cx="3657600" cy="118872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5021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A9A"/>
                </a:solidFill>
              </a:rPr>
              <a:t>Trigger: No keywords match 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9136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038"/>
                </a:solidFill>
              </a:rPr>
              <a:t>→  Run all 3 specialist agents (safe default)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736592"/>
            <a:ext cx="3657600" cy="347472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7731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BM25 Index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084064"/>
            <a:ext cx="3657600" cy="1188720"/>
          </a:xfrm>
          <a:prstGeom prst="rect">
            <a:avLst/>
          </a:prstGeom>
          <a:solidFill>
            <a:srgbClr val="EEF2F8"/>
          </a:solidFill>
          <a:ln w="10160">
            <a:solidFill>
              <a:srgbClr val="243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148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A9A"/>
                </a:solidFill>
              </a:rPr>
              <a:t>Trigger: Index not yet built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5595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038"/>
                </a:solidFill>
              </a:rPr>
              <a:t>→  Auto-rebuild from vector store corpus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736592"/>
            <a:ext cx="3657600" cy="347472"/>
          </a:xfrm>
          <a:prstGeom prst="rect">
            <a:avLst/>
          </a:prstGeom>
          <a:solidFill>
            <a:srgbClr val="C4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47731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Server Startup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5084064"/>
            <a:ext cx="3657600" cy="1188720"/>
          </a:xfrm>
          <a:prstGeom prst="rect">
            <a:avLst/>
          </a:prstGeom>
          <a:solidFill>
            <a:srgbClr val="EEF2F8"/>
          </a:solidFill>
          <a:ln w="10160">
            <a:solidFill>
              <a:srgbClr val="C4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5148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A9A"/>
                </a:solidFill>
              </a:rPr>
              <a:t>Trigger: Dataset CSV not found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5595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038"/>
                </a:solidFill>
              </a:rPr>
              <a:t>→  Server starts with empty store (search → [])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736592"/>
            <a:ext cx="3657600" cy="347472"/>
          </a:xfrm>
          <a:prstGeom prst="rect">
            <a:avLst/>
          </a:prstGeom>
          <a:solidFill>
            <a:srgbClr val="C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47731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Gateway Down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5084064"/>
            <a:ext cx="3657600" cy="1188720"/>
          </a:xfrm>
          <a:prstGeom prst="rect">
            <a:avLst/>
          </a:prstGeom>
          <a:solidFill>
            <a:srgbClr val="EEF2F8"/>
          </a:solidFill>
          <a:ln w="10160">
            <a:solidFill>
              <a:srgbClr val="C82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51480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A9A"/>
                </a:solidFill>
              </a:rPr>
              <a:t>Trigger: LLM chat completions timeout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5595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038"/>
                </a:solidFill>
              </a:rPr>
              <a:t>→  Returns 400 with clear actionable message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5-Tab Frontend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Zero-dependency SPA — no build tools, no npm, opens directly from filesystem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194560" cy="475488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🔍 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92807"/>
            <a:ext cx="2194560" cy="4434840"/>
          </a:xfrm>
          <a:prstGeom prst="rect">
            <a:avLst/>
          </a:prstGeom>
          <a:solidFill>
            <a:srgbClr val="EEF2F8"/>
          </a:solidFill>
          <a:ln w="1524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93392"/>
            <a:ext cx="19933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Hybrid BM25 + Semantic
natural language incident search
Filters: Severity · Status · Supplier
Latency: 10–40 ms (local embeddings)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6624" y="1417320"/>
            <a:ext cx="2194560" cy="475488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141732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💡  Recommendations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6624" y="1892807"/>
            <a:ext cx="2194560" cy="4434840"/>
          </a:xfrm>
          <a:prstGeom prst="rect">
            <a:avLst/>
          </a:prstGeom>
          <a:solidFill>
            <a:srgbClr val="EEF2F8"/>
          </a:solidFill>
          <a:ln w="15240">
            <a:solidFill>
              <a:srgbClr val="243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993392"/>
            <a:ext cx="19933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AI-generated mitigation strategies
Risk bars · PRIORITY 1-5 steps
Timeline · Owner · Expected Impact
Optional LLM Judge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417320"/>
            <a:ext cx="2194560" cy="475488"/>
          </a:xfrm>
          <a:prstGeom prst="rect">
            <a:avLst/>
          </a:prstGeom>
          <a:solidFill>
            <a:srgbClr val="2E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141732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🤖  Multi-Agent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7488" y="1892807"/>
            <a:ext cx="2194560" cy="4434840"/>
          </a:xfrm>
          <a:prstGeom prst="rect">
            <a:avLst/>
          </a:prstGeom>
          <a:solidFill>
            <a:srgbClr val="EEF2F8"/>
          </a:solidFill>
          <a:ln w="15240">
            <a:solidFill>
              <a:srgbClr val="2E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1993392"/>
            <a:ext cx="19933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Parallel agent analysis panel
A2A escalation chain display
Proactive alerts · Consolidated risk
All 4 agents visible with scores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1417320"/>
            <a:ext cx="2194560" cy="47548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141732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📊 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1892807"/>
            <a:ext cx="2194560" cy="4434840"/>
          </a:xfrm>
          <a:prstGeom prst="rect">
            <a:avLst/>
          </a:prstGeom>
          <a:solidFill>
            <a:srgbClr val="EEF2F8"/>
          </a:solidFill>
          <a:ln w="15240">
            <a:solidFill>
              <a:srgbClr val="F0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993392"/>
            <a:ext cx="19933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Live KPI analytics grid
600 incidents · 302 critical
High-risk suppliers · Stockout locs
Disruption trend (improving/stable/bad)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29216" y="1417320"/>
            <a:ext cx="2194560" cy="475488"/>
          </a:xfrm>
          <a:prstGeom prst="rect">
            <a:avLst/>
          </a:prstGeom>
          <a:solidFill>
            <a:srgbClr val="C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6" y="141732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⚠️  Anomalies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29216" y="1892807"/>
            <a:ext cx="2194560" cy="4434840"/>
          </a:xfrm>
          <a:prstGeom prst="rect">
            <a:avLst/>
          </a:prstGeom>
          <a:solidFill>
            <a:srgbClr val="EEF2F8"/>
          </a:solidFill>
          <a:ln w="15240">
            <a:solidFill>
              <a:srgbClr val="C82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8944" y="1993392"/>
            <a:ext cx="199339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038"/>
                </a:solidFill>
              </a:rPr>
              <a:t>IsolationForest anomaly detection
Z-score feature attribution
Pearson correlation insights
Contamination rate configurable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5A28"/>
                </a:solidFill>
              </a:rPr>
              <a:t>✨  6 clickable sample query chips per tab for easy exploration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87552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Performance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3E8"/>
                </a:solidFill>
              </a:rPr>
              <a:t>Live test results on 600-incident corpus with local sentence-transformer embeddings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3657600" cy="54864"/>
          </a:xfrm>
          <a:prstGeom prst="rect">
            <a:avLst/>
          </a:prstGeom>
          <a:solidFill>
            <a:srgbClr val="1C3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99616"/>
            <a:ext cx="3657600" cy="205740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C3461"/>
                </a:solidFill>
              </a:rPr>
              <a:t>40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50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61"/>
                </a:solidFill>
              </a:rPr>
              <a:t>Search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6207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A"/>
                </a:solidFill>
              </a:rPr>
              <a:t>Hybrid BM25+Semantic (local embeddings)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44752"/>
            <a:ext cx="3657600" cy="54864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99616"/>
            <a:ext cx="3657600" cy="205740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09344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43D72"/>
                </a:solidFill>
              </a:rPr>
              <a:t>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50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61"/>
                </a:solidFill>
              </a:rPr>
              <a:t>Indexed Incidents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86207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A"/>
                </a:solidFill>
              </a:rPr>
              <a:t>2024–2026 synthetic supply chain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44752"/>
            <a:ext cx="3657600" cy="5486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99616"/>
            <a:ext cx="3657600" cy="205740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09344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5A28"/>
                </a:solidFill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50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61"/>
                </a:solidFill>
              </a:rPr>
              <a:t>Anomalies Found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6207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A"/>
                </a:solidFill>
              </a:rPr>
              <a:t>IsolationForest contamination=0.05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76472"/>
            <a:ext cx="3657600" cy="54864"/>
          </a:xfrm>
          <a:prstGeom prst="rect">
            <a:avLst/>
          </a:prstGeom>
          <a:solidFill>
            <a:srgbClr val="C4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31336"/>
            <a:ext cx="3657600" cy="205740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41064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47A00"/>
                </a:solidFill>
              </a:rPr>
              <a:t>9.19d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82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61"/>
                </a:solidFill>
              </a:rPr>
              <a:t>Avg Delivery Delay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9379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A"/>
                </a:solidFill>
              </a:rPr>
              <a:t>Across all incidents (deteriorating trend)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776472"/>
            <a:ext cx="3657600" cy="54864"/>
          </a:xfrm>
          <a:prstGeom prst="rect">
            <a:avLst/>
          </a:prstGeom>
          <a:solidFill>
            <a:srgbClr val="C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831336"/>
            <a:ext cx="3657600" cy="205740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941064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8201A"/>
                </a:solidFill>
              </a:rPr>
              <a:t>302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782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61"/>
                </a:solidFill>
              </a:rPr>
              <a:t>Critical Incidents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19379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A"/>
                </a:solidFill>
              </a:rPr>
              <a:t>50.3% of corpus flagged as critical severity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776472"/>
            <a:ext cx="3657600" cy="54864"/>
          </a:xfrm>
          <a:prstGeom prst="rect">
            <a:avLst/>
          </a:prstGeom>
          <a:solidFill>
            <a:srgbClr val="0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831336"/>
            <a:ext cx="3657600" cy="2057400"/>
          </a:xfrm>
          <a:prstGeom prst="rect">
            <a:avLst/>
          </a:prstGeom>
          <a:solidFill>
            <a:srgbClr val="EEF2F8"/>
          </a:solidFill>
          <a:ln w="10160">
            <a:solidFill>
              <a:srgbClr val="1C3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941064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A7A4A"/>
                </a:solidFill>
              </a:rPr>
              <a:t>4 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782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C3461"/>
                </a:solidFill>
              </a:rPr>
              <a:t>Multi-Agent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19379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A"/>
                </a:solidFill>
              </a:rPr>
              <a:t>Parallel + A2A escalation in ~22s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91440" cy="6638544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05A28"/>
                </a:solidFill>
              </a:rPr>
              <a:t>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468880"/>
            <a:ext cx="6675120" cy="36576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6576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D3E8"/>
                </a:solidFill>
              </a:rPr>
              <a:t>AI-Powered Supply Chain Risk Intelligence 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251960"/>
            <a:ext cx="6675120" cy="36576"/>
          </a:xfrm>
          <a:prstGeom prst="rect">
            <a:avLst/>
          </a:prstGeom>
          <a:solidFill>
            <a:srgbClr val="F05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A9A"/>
                </a:solidFill>
              </a:rPr>
              <a:t>Siddharth SR  |  siddharth.sr@prodapt.com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5212080"/>
            <a:ext cx="1737360" cy="123444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28523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5A28"/>
                </a:solidFill>
              </a:rPr>
              <a:t>🔍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7241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D3E8"/>
                </a:solidFill>
              </a:rPr>
              <a:t>Hybrid BM25+Semantic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5212080"/>
            <a:ext cx="1737360" cy="123444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528523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5A28"/>
                </a:solidFill>
              </a:rPr>
              <a:t>🤖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7241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D3E8"/>
                </a:solidFill>
              </a:rPr>
              <a:t>A2A Escalation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5212080"/>
            <a:ext cx="1737360" cy="123444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528523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5A28"/>
                </a:solidFill>
              </a:rPr>
              <a:t>📊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7241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D3E8"/>
                </a:solidFill>
              </a:rPr>
              <a:t>IsolationForest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5212080"/>
            <a:ext cx="1737360" cy="123444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528523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5A28"/>
                </a:solidFill>
              </a:rPr>
              <a:t>💡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7241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D3E8"/>
                </a:solidFill>
              </a:rPr>
              <a:t>GPT-4o-mini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5212080"/>
            <a:ext cx="1737360" cy="1234440"/>
          </a:xfrm>
          <a:prstGeom prst="rect">
            <a:avLst/>
          </a:prstGeom>
          <a:solidFill>
            <a:srgbClr val="2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528523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05A28"/>
                </a:solidFill>
              </a:rPr>
              <a:t>🛡️ 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57241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C8D3E8"/>
                </a:solidFill>
              </a:rPr>
              <a:t>LLM-as-Judge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