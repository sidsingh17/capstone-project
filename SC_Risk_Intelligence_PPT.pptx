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91440" cy="6638544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097280"/>
            <a:ext cx="10972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200" b="0" i="0">
                <a:solidFill>
                  <a:srgbClr val="F05A28"/>
                </a:solidFill>
              </a:rPr>
              <a:t>⬡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1143000"/>
            <a:ext cx="82296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05A28"/>
                </a:solidFill>
              </a:rPr>
              <a:t>PRODAPT SOLUTIONS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1627632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9AA3BB"/>
                </a:solidFill>
              </a:rPr>
              <a:t>Capstone Project  |  2026</a:t>
            </a:r>
          </a:p>
        </p:txBody>
      </p:sp>
      <p:sp>
        <p:nvSpPr>
          <p:cNvPr id="8" name="Rectangle 7"/>
          <p:cNvSpPr/>
          <p:nvPr/>
        </p:nvSpPr>
        <p:spPr>
          <a:xfrm>
            <a:off x="1645920" y="2103120"/>
            <a:ext cx="8686800" cy="27432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2286000"/>
            <a:ext cx="1024128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800" b="1" i="0">
                <a:solidFill>
                  <a:srgbClr val="FFFFFF"/>
                </a:solidFill>
              </a:rPr>
              <a:t>AI-Powered Supply Chain
Risk Intelligence Assistant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420624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C8D3E8"/>
                </a:solidFill>
              </a:rPr>
              <a:t>Natural language queries  ·  RAG retrieval  ·  Multi-Agent AI  ·  Anomaly Detection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5029200"/>
            <a:ext cx="1828800" cy="384048"/>
          </a:xfrm>
          <a:prstGeom prst="rect">
            <a:avLst/>
          </a:prstGeom>
          <a:solidFill>
            <a:srgbClr val="243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50749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Python 3.13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26080" y="5029200"/>
            <a:ext cx="1828800" cy="384048"/>
          </a:xfrm>
          <a:prstGeom prst="rect">
            <a:avLst/>
          </a:prstGeom>
          <a:solidFill>
            <a:srgbClr val="243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17520" y="50749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FastAPI 0.136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937760" y="5029200"/>
            <a:ext cx="1828800" cy="384048"/>
          </a:xfrm>
          <a:prstGeom prst="rect">
            <a:avLst/>
          </a:prstGeom>
          <a:solidFill>
            <a:srgbClr val="243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29200" y="50749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OpenAI GPT-4o-mini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79" y="5029200"/>
            <a:ext cx="1828800" cy="384048"/>
          </a:xfrm>
          <a:prstGeom prst="rect">
            <a:avLst/>
          </a:prstGeom>
          <a:solidFill>
            <a:srgbClr val="243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9519" y="5074920"/>
            <a:ext cx="1645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all-MiniLM + BM25 + NumPy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12188952" cy="987552"/>
          </a:xfrm>
          <a:prstGeom prst="rect">
            <a:avLst/>
          </a:prstGeom>
          <a:solidFill>
            <a:srgbClr val="1C34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Problem Statement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8D3E8"/>
                </a:solidFill>
              </a:rPr>
              <a:t>The intelligence gap in global supply chain operations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88952" cy="54864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11480" y="1371600"/>
            <a:ext cx="5669280" cy="2103120"/>
          </a:xfrm>
          <a:prstGeom prst="rect">
            <a:avLst/>
          </a:prstGeom>
          <a:solidFill>
            <a:srgbClr val="FFFFFF"/>
          </a:solidFill>
          <a:ln w="15240">
            <a:solidFill>
              <a:srgbClr val="1C34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11480" y="1371600"/>
            <a:ext cx="54864" cy="210312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76072" y="150876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3461"/>
                </a:solidFill>
              </a:rPr>
              <a:t>Distributed Data Silos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" y="1874520"/>
            <a:ext cx="5394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38"/>
                </a:solidFill>
              </a:rPr>
              <a:t>Operational data scattered across procurement, warehouse, logistics
and vendor platforms — impossible to query holistically.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355080" y="1371600"/>
            <a:ext cx="5669280" cy="2103120"/>
          </a:xfrm>
          <a:prstGeom prst="rect">
            <a:avLst/>
          </a:prstGeom>
          <a:solidFill>
            <a:srgbClr val="FFFFFF"/>
          </a:solidFill>
          <a:ln w="15240">
            <a:solidFill>
              <a:srgbClr val="1C34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355080" y="1371600"/>
            <a:ext cx="54864" cy="210312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19672" y="150876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3461"/>
                </a:solidFill>
              </a:rPr>
              <a:t>Reactive Monitoring Only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9672" y="1874520"/>
            <a:ext cx="5394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38"/>
                </a:solidFill>
              </a:rPr>
              <a:t>Traditional systems trigger alerts only after thresholds breach.
No predictive capability for emerging disruption patterns.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3749040"/>
            <a:ext cx="5669280" cy="2103120"/>
          </a:xfrm>
          <a:prstGeom prst="rect">
            <a:avLst/>
          </a:prstGeom>
          <a:solidFill>
            <a:srgbClr val="FFFFFF"/>
          </a:solidFill>
          <a:ln w="15240">
            <a:solidFill>
              <a:srgbClr val="1C34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1480" y="3749040"/>
            <a:ext cx="54864" cy="210312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76072" y="388620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3461"/>
                </a:solidFill>
              </a:rPr>
              <a:t>Manual Analysis Bottleneck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76072" y="4251960"/>
            <a:ext cx="5394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38"/>
                </a:solidFill>
              </a:rPr>
              <a:t>Operations teams spend hours consolidating reports to understand
risk — by the time insights arrive, disruptions have escalated.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355080" y="3749040"/>
            <a:ext cx="5669280" cy="2103120"/>
          </a:xfrm>
          <a:prstGeom prst="rect">
            <a:avLst/>
          </a:prstGeom>
          <a:solidFill>
            <a:srgbClr val="FFFFFF"/>
          </a:solidFill>
          <a:ln w="15240">
            <a:solidFill>
              <a:srgbClr val="F05A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55080" y="3749040"/>
            <a:ext cx="54864" cy="2103120"/>
          </a:xfrm>
          <a:prstGeom prst="rect">
            <a:avLst/>
          </a:prstGeom>
          <a:solidFill>
            <a:srgbClr val="C82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19672" y="3886200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C3461"/>
                </a:solidFill>
              </a:rPr>
              <a:t>Five Critical Scenarios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19672" y="4251960"/>
            <a:ext cx="53949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38"/>
                </a:solidFill>
              </a:rPr>
              <a:t>Supplier delays  ·  Port congestion  ·  Stockout risk
Transportation cost spikes  ·  Demand surge bottlenecks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12188952" cy="987552"/>
          </a:xfrm>
          <a:prstGeom prst="rect">
            <a:avLst/>
          </a:prstGeom>
          <a:solidFill>
            <a:srgbClr val="1C34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Our 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8D3E8"/>
                </a:solidFill>
              </a:rPr>
              <a:t>AI-powered intelligence that transforms reactive monitoring into proactive resilience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88952" cy="54864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37160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50" b="0" i="0">
                <a:solidFill>
                  <a:srgbClr val="1A2038"/>
                </a:solidFill>
              </a:rPr>
              <a:t>Operations teams can now query historical incidents in natural language,
receive AI-generated risk assessments, and get explainable mitigation strategies
— all within seconds.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2377440"/>
            <a:ext cx="3657600" cy="1828800"/>
          </a:xfrm>
          <a:prstGeom prst="rect">
            <a:avLst/>
          </a:prstGeom>
          <a:solidFill>
            <a:srgbClr val="EEF2F8"/>
          </a:solidFill>
          <a:ln w="15240">
            <a:solidFill>
              <a:srgbClr val="1C34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51460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1A2038"/>
                </a:solidFill>
              </a:rPr>
              <a:t>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25146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C3461"/>
                </a:solidFill>
              </a:rPr>
              <a:t>Natural Language
Incident Retrieval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310896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2038"/>
                </a:solidFill>
              </a:rPr>
              <a:t>Describe disruptions conversationally.
Semantics + keywords.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2377440"/>
            <a:ext cx="3657600" cy="1828800"/>
          </a:xfrm>
          <a:prstGeom prst="rect">
            <a:avLst/>
          </a:prstGeom>
          <a:solidFill>
            <a:srgbClr val="EEF2F8"/>
          </a:solidFill>
          <a:ln w="15240">
            <a:solidFill>
              <a:srgbClr val="1C34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34840" y="251460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1A2038"/>
                </a:solidFill>
              </a:rPr>
              <a:t>⚖️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83480" y="25146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C3461"/>
                </a:solidFill>
              </a:rPr>
              <a:t>4-Dimension
Risk Scoring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310896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2038"/>
                </a:solidFill>
              </a:rPr>
              <a:t>Supplier 35% · Inventory 30%
Shipment 25% · Demand 10%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0" y="2377440"/>
            <a:ext cx="3657600" cy="1828800"/>
          </a:xfrm>
          <a:prstGeom prst="rect">
            <a:avLst/>
          </a:prstGeom>
          <a:solidFill>
            <a:srgbClr val="EEF2F8"/>
          </a:solidFill>
          <a:ln w="15240">
            <a:solidFill>
              <a:srgbClr val="1C34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66760" y="251460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1A2038"/>
                </a:solidFill>
              </a:rPr>
              <a:t>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25146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C3461"/>
                </a:solidFill>
              </a:rPr>
              <a:t>Multi-Agent
Parallel Analysis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310896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2038"/>
                </a:solidFill>
              </a:rPr>
              <a:t>4 specialist agents run concurrently
with A2A escalation.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4434840"/>
            <a:ext cx="3657600" cy="1828800"/>
          </a:xfrm>
          <a:prstGeom prst="rect">
            <a:avLst/>
          </a:prstGeom>
          <a:solidFill>
            <a:srgbClr val="EEF2F8"/>
          </a:solidFill>
          <a:ln w="15240">
            <a:solidFill>
              <a:srgbClr val="1C34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457200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1A2038"/>
                </a:solidFill>
              </a:rPr>
              <a:t>🛡️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51560" y="45720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C3461"/>
                </a:solidFill>
              </a:rPr>
              <a:t>Explainable
Recommendations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16636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2038"/>
                </a:solidFill>
              </a:rPr>
              <a:t>Every recommendation traces back
to historical evidence.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97680" y="4434840"/>
            <a:ext cx="3657600" cy="1828800"/>
          </a:xfrm>
          <a:prstGeom prst="rect">
            <a:avLst/>
          </a:prstGeom>
          <a:solidFill>
            <a:srgbClr val="EEF2F8"/>
          </a:solidFill>
          <a:ln w="15240">
            <a:solidFill>
              <a:srgbClr val="1C34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34840" y="457200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1A2038"/>
                </a:solidFill>
              </a:rPr>
              <a:t>📊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983480" y="45720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C3461"/>
                </a:solidFill>
              </a:rPr>
              <a:t>Anomaly
Detection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516636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2038"/>
                </a:solidFill>
              </a:rPr>
              <a:t>IsolationForest flags statistical
anomalies proactively.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0" y="4434840"/>
            <a:ext cx="3657600" cy="1828800"/>
          </a:xfrm>
          <a:prstGeom prst="rect">
            <a:avLst/>
          </a:prstGeom>
          <a:solidFill>
            <a:srgbClr val="EEF2F8"/>
          </a:solidFill>
          <a:ln w="15240">
            <a:solidFill>
              <a:srgbClr val="1C34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366760" y="4572000"/>
            <a:ext cx="5029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0">
                <a:solidFill>
                  <a:srgbClr val="1A2038"/>
                </a:solidFill>
              </a:rPr>
              <a:t>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15400" y="4572000"/>
            <a:ext cx="2834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C3461"/>
                </a:solidFill>
              </a:rPr>
              <a:t>Evaluation
Framework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66760" y="5166360"/>
            <a:ext cx="33832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2038"/>
                </a:solidFill>
              </a:rPr>
              <a:t>DeepEval RAG metrics +
LLM-as-Judge quality scoring.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12188952" cy="987552"/>
          </a:xfrm>
          <a:prstGeom prst="rect">
            <a:avLst/>
          </a:prstGeom>
          <a:solidFill>
            <a:srgbClr val="1C34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System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8D3E8"/>
                </a:solidFill>
              </a:rPr>
              <a:t>Layered microservice design — each layer independently replaceable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88952" cy="54864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389888"/>
            <a:ext cx="11430000" cy="530352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1408176"/>
            <a:ext cx="4572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FRONTEND  (5-Tab SPA — Zero dependency HTML/CSS/JS)</a:t>
            </a:r>
          </a:p>
        </p:txBody>
      </p:sp>
      <p:sp>
        <p:nvSpPr>
          <p:cNvPr id="9" name="Rectangle 8"/>
          <p:cNvSpPr/>
          <p:nvPr/>
        </p:nvSpPr>
        <p:spPr>
          <a:xfrm>
            <a:off x="5212080" y="1435608"/>
            <a:ext cx="11887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212080" y="1435608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05A28"/>
                </a:solidFill>
              </a:rPr>
              <a:t>Search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10528" y="1435608"/>
            <a:ext cx="11887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10528" y="1435608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05A28"/>
                </a:solidFill>
              </a:rPr>
              <a:t>Recommendations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808976" y="1435608"/>
            <a:ext cx="11887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808976" y="1435608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05A28"/>
                </a:solidFill>
              </a:rPr>
              <a:t>Multi-Agent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07424" y="1435608"/>
            <a:ext cx="11887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07424" y="1435608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05A28"/>
                </a:solidFill>
              </a:rPr>
              <a:t>Dashboard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405872" y="1435608"/>
            <a:ext cx="1188720" cy="3840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405872" y="1435608"/>
            <a:ext cx="11887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05A28"/>
                </a:solidFill>
              </a:rPr>
              <a:t>Anomalies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0" y="1938528"/>
            <a:ext cx="22860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05A28"/>
                </a:solidFill>
              </a:rPr>
              <a:t>▼  HTTP / REST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65760" y="2212848"/>
            <a:ext cx="11430000" cy="548640"/>
          </a:xfrm>
          <a:prstGeom prst="rect">
            <a:avLst/>
          </a:prstGeom>
          <a:solidFill>
            <a:srgbClr val="1C34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02920" y="2231136"/>
            <a:ext cx="4114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05A28"/>
                </a:solidFill>
              </a:rPr>
              <a:t>FASTAPI APPLICATION  /api/v1  (9 endpoints)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0" y="2258568"/>
            <a:ext cx="1664208" cy="347472"/>
          </a:xfrm>
          <a:prstGeom prst="rect">
            <a:avLst/>
          </a:prstGeom>
          <a:solidFill>
            <a:srgbClr val="243D72"/>
          </a:solidFill>
          <a:ln w="10160">
            <a:solidFill>
              <a:srgbClr val="F05A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0" y="2258568"/>
            <a:ext cx="166420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/search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373368" y="2258568"/>
            <a:ext cx="1664208" cy="347472"/>
          </a:xfrm>
          <a:prstGeom prst="rect">
            <a:avLst/>
          </a:prstGeom>
          <a:solidFill>
            <a:srgbClr val="243D72"/>
          </a:solidFill>
          <a:ln w="10160">
            <a:solidFill>
              <a:srgbClr val="F05A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73368" y="2258568"/>
            <a:ext cx="166420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/recommendations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74736" y="2258568"/>
            <a:ext cx="1664208" cy="347472"/>
          </a:xfrm>
          <a:prstGeom prst="rect">
            <a:avLst/>
          </a:prstGeom>
          <a:solidFill>
            <a:srgbClr val="243D72"/>
          </a:solidFill>
          <a:ln w="10160">
            <a:solidFill>
              <a:srgbClr val="F05A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174736" y="2258568"/>
            <a:ext cx="166420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/agents/analyze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976104" y="2258568"/>
            <a:ext cx="1664208" cy="347472"/>
          </a:xfrm>
          <a:prstGeom prst="rect">
            <a:avLst/>
          </a:prstGeom>
          <a:solidFill>
            <a:srgbClr val="243D72"/>
          </a:solidFill>
          <a:ln w="10160">
            <a:solidFill>
              <a:srgbClr val="F05A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976104" y="2258568"/>
            <a:ext cx="1664208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/analytics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03520" y="2779776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C8D3E8"/>
                </a:solidFill>
              </a:rPr>
              <a:t>▼  Routes to Services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65760" y="3017520"/>
            <a:ext cx="2743200" cy="594360"/>
          </a:xfrm>
          <a:prstGeom prst="rect">
            <a:avLst/>
          </a:prstGeom>
          <a:solidFill>
            <a:srgbClr val="243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5760" y="3017520"/>
            <a:ext cx="2743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RAG Service
(search)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246120" y="3017520"/>
            <a:ext cx="2743200" cy="594360"/>
          </a:xfrm>
          <a:prstGeom prst="rect">
            <a:avLst/>
          </a:prstGeom>
          <a:solidFill>
            <a:srgbClr val="243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246120" y="3017520"/>
            <a:ext cx="2743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RAG Service
(generate+recommend)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126480" y="3017520"/>
            <a:ext cx="2743200" cy="594360"/>
          </a:xfrm>
          <a:prstGeom prst="rect">
            <a:avLst/>
          </a:prstGeom>
          <a:solidFill>
            <a:srgbClr val="2E4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26480" y="3017520"/>
            <a:ext cx="2743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Orchestrator
(multi-agent)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006840" y="3017520"/>
            <a:ext cx="2788920" cy="594360"/>
          </a:xfrm>
          <a:prstGeom prst="rect">
            <a:avLst/>
          </a:prstGeom>
          <a:solidFill>
            <a:srgbClr val="2E4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006840" y="3017520"/>
            <a:ext cx="27889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Analytics Service
(dashboard/anomalies)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029200" y="3630168"/>
            <a:ext cx="27432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50" b="1" i="0">
                <a:solidFill>
                  <a:srgbClr val="C8D3E8"/>
                </a:solidFill>
              </a:rPr>
              <a:t>▼  Shared Core Services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365760" y="3867912"/>
            <a:ext cx="11430000" cy="566928"/>
          </a:xfrm>
          <a:prstGeom prst="rect">
            <a:avLst/>
          </a:prstGeom>
          <a:solidFill>
            <a:srgbClr val="182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3886200"/>
            <a:ext cx="25603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50" b="1" i="0">
                <a:solidFill>
                  <a:srgbClr val="F05A28"/>
                </a:solidFill>
              </a:rPr>
              <a:t>CORE SERVICES LAYER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7200" y="3904487"/>
            <a:ext cx="2743200" cy="475488"/>
          </a:xfrm>
          <a:prstGeom prst="rect">
            <a:avLst/>
          </a:prstGeom>
          <a:solidFill>
            <a:srgbClr val="243D72"/>
          </a:solidFill>
          <a:ln w="8890">
            <a:solidFill>
              <a:srgbClr val="F05A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57200" y="3904487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HybridSearch
(BM25 + RRF)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383280" y="3904487"/>
            <a:ext cx="2743200" cy="475488"/>
          </a:xfrm>
          <a:prstGeom prst="rect">
            <a:avLst/>
          </a:prstGeom>
          <a:solidFill>
            <a:srgbClr val="243D72"/>
          </a:solidFill>
          <a:ln w="8890">
            <a:solidFill>
              <a:srgbClr val="F05A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3383280" y="3904487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RiskScoring
(4-dimension)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309360" y="3904487"/>
            <a:ext cx="2743200" cy="475488"/>
          </a:xfrm>
          <a:prstGeom prst="rect">
            <a:avLst/>
          </a:prstGeom>
          <a:solidFill>
            <a:srgbClr val="243D72"/>
          </a:solidFill>
          <a:ln w="8890">
            <a:solidFill>
              <a:srgbClr val="F05A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309360" y="3904487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Guardrails
(validation)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235440" y="3904487"/>
            <a:ext cx="2743200" cy="475488"/>
          </a:xfrm>
          <a:prstGeom prst="rect">
            <a:avLst/>
          </a:prstGeom>
          <a:solidFill>
            <a:srgbClr val="243D72"/>
          </a:solidFill>
          <a:ln w="8890">
            <a:solidFill>
              <a:srgbClr val="F05A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235440" y="3904487"/>
            <a:ext cx="274320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FFFFFF"/>
                </a:solidFill>
              </a:rPr>
              <a:t>TokenOptimizer
(tiktoken)</a:t>
            </a:r>
          </a:p>
        </p:txBody>
      </p:sp>
      <p:sp>
        <p:nvSpPr>
          <p:cNvPr id="50" name="Rectangle 49"/>
          <p:cNvSpPr/>
          <p:nvPr/>
        </p:nvSpPr>
        <p:spPr>
          <a:xfrm>
            <a:off x="365760" y="4526280"/>
            <a:ext cx="5303520" cy="987552"/>
          </a:xfrm>
          <a:prstGeom prst="rect">
            <a:avLst/>
          </a:prstGeom>
          <a:solidFill>
            <a:srgbClr val="122248"/>
          </a:solidFill>
          <a:ln w="12700">
            <a:solidFill>
              <a:srgbClr val="243D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02920" y="4553712"/>
            <a:ext cx="3200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05A28"/>
                </a:solidFill>
              </a:rPr>
              <a:t>NUMPY VECTOR STORE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02920" y="484632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C8D3E8"/>
                </a:solidFill>
              </a:rPr>
              <a:t>embeddings.npy  ·  documents.json  ·  BM25 Index
all-MiniLM-L6-v2 (384-dim) · store_meta.json (dimension guard)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492240" y="4526280"/>
            <a:ext cx="5303520" cy="987552"/>
          </a:xfrm>
          <a:prstGeom prst="rect">
            <a:avLst/>
          </a:prstGeom>
          <a:solidFill>
            <a:srgbClr val="F05A28"/>
          </a:solidFill>
          <a:ln w="1524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629400" y="4553712"/>
            <a:ext cx="50292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</a:rPr>
              <a:t>OPENAI GPT-4o-mini  (via keygateway · SSL-off)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629400" y="4846320"/>
            <a:ext cx="50292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FFE8D8"/>
                </a:solidFill>
              </a:rPr>
              <a:t>• Recommendation generation (chat.completions, max_tokens=500)
• Multi-agent tool use (function calling)  ·  LLM-as-judge evaluation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65760" y="5623560"/>
            <a:ext cx="11430000" cy="594360"/>
          </a:xfrm>
          <a:prstGeom prst="rect">
            <a:avLst/>
          </a:prstGeom>
          <a:solidFill>
            <a:srgbClr val="0A16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02920" y="5650992"/>
            <a:ext cx="16459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F05A28"/>
                </a:solidFill>
              </a:rPr>
              <a:t>DATA LAYER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2286000" y="5650992"/>
            <a:ext cx="94183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8D3E8"/>
                </a:solidFill>
              </a:rPr>
              <a:t>supply_chain_data.csv (600 incidents)  →  Preprocessing (coerce/enrich)  →  Chunking (tiktoken)  →  Embeddings  →  VectorStore upsert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12188952" cy="987552"/>
          </a:xfrm>
          <a:prstGeom prst="rect">
            <a:avLst/>
          </a:prstGeom>
          <a:solidFill>
            <a:srgbClr val="1C34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Data Flow Diagram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8D3E8"/>
                </a:solidFill>
              </a:rPr>
              <a:t>From raw CSV incidents to explainable AI recommendations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88952" cy="54864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57200" y="14173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05A28"/>
                </a:solidFill>
              </a:rPr>
              <a:t>DATA INGESTION FLOW</a:t>
            </a:r>
          </a:p>
        </p:txBody>
      </p:sp>
      <p:sp>
        <p:nvSpPr>
          <p:cNvPr id="8" name="Rectangle 7"/>
          <p:cNvSpPr/>
          <p:nvPr/>
        </p:nvSpPr>
        <p:spPr>
          <a:xfrm>
            <a:off x="365760" y="1737360"/>
            <a:ext cx="1737360" cy="822960"/>
          </a:xfrm>
          <a:prstGeom prst="rect">
            <a:avLst/>
          </a:prstGeom>
          <a:solidFill>
            <a:srgbClr val="1C34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737360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CSV
600 Incidents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03120" y="196596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05A28"/>
                </a:solidFill>
              </a:rPr>
              <a:t>→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1737360"/>
            <a:ext cx="1737360" cy="822960"/>
          </a:xfrm>
          <a:prstGeom prst="rect">
            <a:avLst/>
          </a:prstGeom>
          <a:solidFill>
            <a:srgbClr val="243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331720" y="1737360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Preprocess
&amp; Enrich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069080" y="196596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05A28"/>
                </a:solidFill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7680" y="1737360"/>
            <a:ext cx="1737360" cy="822960"/>
          </a:xfrm>
          <a:prstGeom prst="rect">
            <a:avLst/>
          </a:prstGeom>
          <a:solidFill>
            <a:srgbClr val="243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297680" y="1737360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Chunk
+ Tokenize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035040" y="196596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05A28"/>
                </a:solidFill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263640" y="1737360"/>
            <a:ext cx="1737360" cy="82296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63640" y="1737360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Encode
Embeddings
384-dim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001000" y="196596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05A28"/>
                </a:solidFill>
              </a:rPr>
              <a:t>→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0" y="1737360"/>
            <a:ext cx="1737360" cy="822960"/>
          </a:xfrm>
          <a:prstGeom prst="rect">
            <a:avLst/>
          </a:prstGeom>
          <a:solidFill>
            <a:srgbClr val="1C34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229600" y="1737360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NumPy
VectorStore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966960" y="1965960"/>
            <a:ext cx="228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05A28"/>
                </a:solidFill>
              </a:rPr>
              <a:t>→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195560" y="1737360"/>
            <a:ext cx="1737360" cy="822960"/>
          </a:xfrm>
          <a:prstGeom prst="rect">
            <a:avLst/>
          </a:prstGeom>
          <a:solidFill>
            <a:srgbClr val="1C34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195560" y="1737360"/>
            <a:ext cx="1737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BM25
Index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2697480"/>
            <a:ext cx="11430000" cy="27432"/>
          </a:xfrm>
          <a:prstGeom prst="rect">
            <a:avLst/>
          </a:prstGeom>
          <a:solidFill>
            <a:srgbClr val="243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278892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05A28"/>
                </a:solidFill>
              </a:rPr>
              <a:t>QUERY &amp; RESPONSE FLOW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20040" y="3090672"/>
            <a:ext cx="1371600" cy="822960"/>
          </a:xfrm>
          <a:prstGeom prst="rect">
            <a:avLst/>
          </a:prstGeom>
          <a:solidFill>
            <a:srgbClr val="1C34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20040" y="3090672"/>
            <a:ext cx="1371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User
Query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91640" y="3319272"/>
            <a:ext cx="118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05A28"/>
                </a:solidFill>
              </a:rPr>
              <a:t>→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810512" y="3090672"/>
            <a:ext cx="1371600" cy="822960"/>
          </a:xfrm>
          <a:prstGeom prst="rect">
            <a:avLst/>
          </a:prstGeom>
          <a:solidFill>
            <a:srgbClr val="C4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810512" y="3090672"/>
            <a:ext cx="1371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Guardrails
Validate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182112" y="3319272"/>
            <a:ext cx="118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05A28"/>
                </a:solidFill>
              </a:rPr>
              <a:t>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300984" y="3090672"/>
            <a:ext cx="1371600" cy="822960"/>
          </a:xfrm>
          <a:prstGeom prst="rect">
            <a:avLst/>
          </a:prstGeom>
          <a:solidFill>
            <a:srgbClr val="243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300984" y="3090672"/>
            <a:ext cx="1371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Hybrid
Search
BM25+Sem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672584" y="3319272"/>
            <a:ext cx="118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05A28"/>
                </a:solidFill>
              </a:rPr>
              <a:t>→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791456" y="3090672"/>
            <a:ext cx="1371600" cy="822960"/>
          </a:xfrm>
          <a:prstGeom prst="rect">
            <a:avLst/>
          </a:prstGeom>
          <a:solidFill>
            <a:srgbClr val="243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91456" y="3090672"/>
            <a:ext cx="1371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RRF
Fusion
+ Rerank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163056" y="3319272"/>
            <a:ext cx="118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05A28"/>
                </a:solidFill>
              </a:rPr>
              <a:t>→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81928" y="3090672"/>
            <a:ext cx="1371600" cy="822960"/>
          </a:xfrm>
          <a:prstGeom prst="rect">
            <a:avLst/>
          </a:prstGeom>
          <a:solidFill>
            <a:srgbClr val="243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281928" y="3090672"/>
            <a:ext cx="1371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Token
Budget
Optimize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653528" y="3319272"/>
            <a:ext cx="118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05A28"/>
                </a:solidFill>
              </a:rPr>
              <a:t>→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772400" y="3090672"/>
            <a:ext cx="1371600" cy="82296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772400" y="3090672"/>
            <a:ext cx="1371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Risk
Score
4-Dim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144000" y="3319272"/>
            <a:ext cx="118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05A28"/>
                </a:solidFill>
              </a:rPr>
              <a:t>→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262872" y="3090672"/>
            <a:ext cx="1371600" cy="82296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262872" y="3090672"/>
            <a:ext cx="1371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GPT-4o-mini
Generate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0634472" y="3319272"/>
            <a:ext cx="11887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05A28"/>
                </a:solidFill>
              </a:rPr>
              <a:t>→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753344" y="3090672"/>
            <a:ext cx="1371600" cy="822960"/>
          </a:xfrm>
          <a:prstGeom prst="rect">
            <a:avLst/>
          </a:prstGeom>
          <a:solidFill>
            <a:srgbClr val="1C34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753344" y="3090672"/>
            <a:ext cx="1371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Parse &amp;
Return
Response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57200" y="4114800"/>
            <a:ext cx="109728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05A28"/>
                </a:solidFill>
              </a:rPr>
              <a:t>MULTI-AGENT PARALLEL FLOW  (A2A Escalation)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365760" y="4434840"/>
            <a:ext cx="2926080" cy="731520"/>
          </a:xfrm>
          <a:prstGeom prst="rect">
            <a:avLst/>
          </a:prstGeom>
          <a:solidFill>
            <a:srgbClr val="1C34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65760" y="443484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Supplier
Risk Agent</a:t>
            </a:r>
          </a:p>
        </p:txBody>
      </p:sp>
      <p:sp>
        <p:nvSpPr>
          <p:cNvPr id="53" name="Rectangle 52"/>
          <p:cNvSpPr/>
          <p:nvPr/>
        </p:nvSpPr>
        <p:spPr>
          <a:xfrm>
            <a:off x="3566160" y="4434840"/>
            <a:ext cx="2926080" cy="731520"/>
          </a:xfrm>
          <a:prstGeom prst="rect">
            <a:avLst/>
          </a:prstGeom>
          <a:solidFill>
            <a:srgbClr val="243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3566160" y="443484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Shipment
Analysis Agent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766560" y="4434840"/>
            <a:ext cx="2926080" cy="731520"/>
          </a:xfrm>
          <a:prstGeom prst="rect">
            <a:avLst/>
          </a:prstGeom>
          <a:solidFill>
            <a:srgbClr val="2E4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766560" y="4434840"/>
            <a:ext cx="292608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Inventory
Intelligence Agent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65760" y="5230368"/>
            <a:ext cx="93268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05A28"/>
                </a:solidFill>
              </a:rPr>
              <a:t>↓  ↓  ↓  A2A Escalation  ↓  ↓  ↓</a:t>
            </a:r>
          </a:p>
        </p:txBody>
      </p:sp>
      <p:sp>
        <p:nvSpPr>
          <p:cNvPr id="58" name="Rectangle 57"/>
          <p:cNvSpPr/>
          <p:nvPr/>
        </p:nvSpPr>
        <p:spPr>
          <a:xfrm>
            <a:off x="2743200" y="5559552"/>
            <a:ext cx="4114800" cy="68580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2743200" y="5559552"/>
            <a:ext cx="411480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Recommendation Agent  →  Consolidated Response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12188952" cy="987552"/>
          </a:xfrm>
          <a:prstGeom prst="rect">
            <a:avLst/>
          </a:prstGeom>
          <a:solidFill>
            <a:srgbClr val="1C34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RAG Pipeline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8D3E8"/>
                </a:solidFill>
              </a:rPr>
              <a:t>8-stage Retrieve-Augment-Generate pipeline with hybrid search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88952" cy="54864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444752"/>
            <a:ext cx="411480" cy="41148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20040" y="1444752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1856232"/>
            <a:ext cx="2743200" cy="1691640"/>
          </a:xfrm>
          <a:prstGeom prst="rect">
            <a:avLst/>
          </a:prstGeom>
          <a:solidFill>
            <a:srgbClr val="1C34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" y="1947672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User Query
Received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" y="2633472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8D3E8"/>
                </a:solidFill>
              </a:rPr>
              <a:t>Natural language input
from operations team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08960" y="2450592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05A28"/>
                </a:solidFill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91840" y="1444752"/>
            <a:ext cx="411480" cy="41148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291840" y="1444752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91840" y="1856232"/>
            <a:ext cx="2743200" cy="1691640"/>
          </a:xfrm>
          <a:prstGeom prst="rect">
            <a:avLst/>
          </a:prstGeom>
          <a:solidFill>
            <a:srgbClr val="C82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383280" y="1947672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Guardrails
Validation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383280" y="2633472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8D3E8"/>
                </a:solidFill>
              </a:rPr>
              <a:t>Injection detection
Domain relevance check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80760" y="2450592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05A28"/>
                </a:solidFill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1444752"/>
            <a:ext cx="411480" cy="41148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1444752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1856232"/>
            <a:ext cx="2743200" cy="1691640"/>
          </a:xfrm>
          <a:prstGeom prst="rect">
            <a:avLst/>
          </a:prstGeom>
          <a:solidFill>
            <a:srgbClr val="243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55080" y="1947672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Hybrid Search
BM25 + Semantic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55080" y="2633472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8D3E8"/>
                </a:solidFill>
              </a:rPr>
              <a:t>Parallel BM25 + cosine ANN
Merged via RRF (α=0.5)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052560" y="2450592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05A28"/>
                </a:solidFill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35440" y="1444752"/>
            <a:ext cx="411480" cy="41148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0" y="1444752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235440" y="1856232"/>
            <a:ext cx="2743200" cy="1691640"/>
          </a:xfrm>
          <a:prstGeom prst="rect">
            <a:avLst/>
          </a:prstGeom>
          <a:solidFill>
            <a:srgbClr val="2E4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326880" y="1947672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Logistics
Reranking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326880" y="2633472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8D3E8"/>
                </a:solidFill>
              </a:rPr>
              <a:t>+0.05 boost per matching
domain field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3822192"/>
            <a:ext cx="411480" cy="41148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20040" y="3822192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" y="4233672"/>
            <a:ext cx="2743200" cy="1691640"/>
          </a:xfrm>
          <a:prstGeom prst="rect">
            <a:avLst/>
          </a:prstGeom>
          <a:solidFill>
            <a:srgbClr val="36569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4325112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Token Budget
Management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11480" y="5010912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8D3E8"/>
                </a:solidFill>
              </a:rPr>
              <a:t>tiktoken cl100k_base
max 8000 token context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08960" y="4828032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05A28"/>
                </a:solidFill>
              </a:rPr>
              <a:t>→</a:t>
            </a:r>
          </a:p>
        </p:txBody>
      </p:sp>
      <p:sp>
        <p:nvSpPr>
          <p:cNvPr id="36" name="Rectangle 35"/>
          <p:cNvSpPr/>
          <p:nvPr/>
        </p:nvSpPr>
        <p:spPr>
          <a:xfrm>
            <a:off x="3291840" y="3822192"/>
            <a:ext cx="411480" cy="41148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291840" y="3822192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91840" y="4233672"/>
            <a:ext cx="2743200" cy="169164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383280" y="4325112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4-Dim Risk
Scoring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383280" y="5010912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8D3E8"/>
                </a:solidFill>
              </a:rPr>
              <a:t>Supplier · Inventory
Shipment · Demand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080760" y="4828032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05A28"/>
                </a:solidFill>
              </a:rPr>
              <a:t>→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263640" y="3822192"/>
            <a:ext cx="411480" cy="41148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263640" y="3822192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263640" y="4233672"/>
            <a:ext cx="2743200" cy="169164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55080" y="4325112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GPT-4o-mini
Generation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55080" y="5010912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8D3E8"/>
                </a:solidFill>
              </a:rPr>
              <a:t>Structured prompt injection
PRIORITY 1-5 output format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052560" y="4828032"/>
            <a:ext cx="182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05A28"/>
                </a:solidFill>
              </a:rPr>
              <a:t>→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235440" y="3822192"/>
            <a:ext cx="411480" cy="41148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235440" y="3822192"/>
            <a:ext cx="4114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235440" y="4233672"/>
            <a:ext cx="2743200" cy="1691640"/>
          </a:xfrm>
          <a:prstGeom prst="rect">
            <a:avLst/>
          </a:prstGeom>
          <a:solidFill>
            <a:srgbClr val="1C34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9326880" y="4325112"/>
            <a:ext cx="25603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Parse &amp;
Return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326880" y="5010912"/>
            <a:ext cx="25603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C8D3E8"/>
                </a:solidFill>
              </a:rPr>
              <a:t>Regex extraction
Fallback to plain text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12188952" cy="987552"/>
          </a:xfrm>
          <a:prstGeom prst="rect">
            <a:avLst/>
          </a:prstGeom>
          <a:solidFill>
            <a:srgbClr val="1C34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Multi-Agent Architecture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8D3E8"/>
                </a:solidFill>
              </a:rPr>
              <a:t>Parallel specialist agents with Agent-to-Agent (A2A) escalation workflow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88952" cy="54864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480560" y="1417320"/>
            <a:ext cx="3200400" cy="658368"/>
          </a:xfrm>
          <a:prstGeom prst="rect">
            <a:avLst/>
          </a:prstGeom>
          <a:solidFill>
            <a:srgbClr val="1C34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80560" y="1417320"/>
            <a:ext cx="320040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🎯  Multi-Agent Orchestrator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417320"/>
            <a:ext cx="3749039" cy="658368"/>
          </a:xfrm>
          <a:prstGeom prst="rect">
            <a:avLst/>
          </a:prstGeom>
          <a:solidFill>
            <a:srgbClr val="243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5760" y="1417320"/>
            <a:ext cx="3749039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</a:rPr>
              <a:t>Hybrid Search  →  Context Docs (top 10)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2194560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05A28"/>
                </a:solidFill>
              </a:rPr>
              <a:t>↓  ThreadPoolExecutor (max_workers=3)  ↓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2606040"/>
            <a:ext cx="3657600" cy="1691640"/>
          </a:xfrm>
          <a:prstGeom prst="rect">
            <a:avLst/>
          </a:prstGeom>
          <a:solidFill>
            <a:srgbClr val="1C34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65176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</a:rPr>
              <a:t>Supplier
Risk Agent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320040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C8D3E8"/>
                </a:solidFill>
              </a:rPr>
              <a:t>get_supplier_history()
Delay · SLA · Dependency
Escalate if risk &gt; 0.7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297680" y="2606040"/>
            <a:ext cx="3657600" cy="1691640"/>
          </a:xfrm>
          <a:prstGeom prst="rect">
            <a:avLst/>
          </a:prstGeom>
          <a:solidFill>
            <a:srgbClr val="243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389120" y="265176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</a:rPr>
              <a:t>Shipment
Analysis Agent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89120" y="320040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C8D3E8"/>
                </a:solidFill>
              </a:rPr>
              <a:t>get_route_status()
Port · Carrier · Customs
Root cause analysis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0" y="2606040"/>
            <a:ext cx="3657600" cy="1691640"/>
          </a:xfrm>
          <a:prstGeom prst="rect">
            <a:avLst/>
          </a:prstGeom>
          <a:solidFill>
            <a:srgbClr val="2E4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21040" y="2651760"/>
            <a:ext cx="3474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50" b="1" i="0">
                <a:solidFill>
                  <a:srgbClr val="FFFFFF"/>
                </a:solidFill>
              </a:rPr>
              <a:t>Inventory
Intelligence Agent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21040" y="3200400"/>
            <a:ext cx="3474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C8D3E8"/>
                </a:solidFill>
              </a:rPr>
              <a:t>check_inventory()
get_demand_forecast()
Stockout prediction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4407408"/>
            <a:ext cx="11430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05A28"/>
                </a:solidFill>
              </a:rPr>
              <a:t>⚡  A2A Escalation Chain  (risk &gt; 0.7 → RecommendationAgent → Director if &gt; 0.85)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0" y="4846320"/>
            <a:ext cx="5760720" cy="77724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200400" y="4846320"/>
            <a:ext cx="57607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🎯  Recommendation Agent  —  Synthesise · Consolidate · Proactive Alerts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560320" y="5715000"/>
            <a:ext cx="7040880" cy="658368"/>
          </a:xfrm>
          <a:prstGeom prst="rect">
            <a:avLst/>
          </a:prstGeom>
          <a:solidFill>
            <a:srgbClr val="1C34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560320" y="5715000"/>
            <a:ext cx="704088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50" b="0" i="0">
                <a:solidFill>
                  <a:srgbClr val="C8D3E8"/>
                </a:solidFill>
              </a:rPr>
              <a:t>OrchestratorResponse  ·  consolidated_risk  ·  escalation_chain  ·  proactive_alerts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12188952" cy="987552"/>
          </a:xfrm>
          <a:prstGeom prst="rect">
            <a:avLst/>
          </a:prstGeom>
          <a:solidFill>
            <a:srgbClr val="1C34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Technology Stack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8D3E8"/>
                </a:solidFill>
              </a:rPr>
              <a:t>Production-grade open-source stack running on Python 3.13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88952" cy="54864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5577840" cy="411480"/>
          </a:xfrm>
          <a:prstGeom prst="rect">
            <a:avLst/>
          </a:prstGeom>
          <a:solidFill>
            <a:srgbClr val="1C34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72184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Backend Framework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828800"/>
            <a:ext cx="5577840" cy="1691640"/>
          </a:xfrm>
          <a:prstGeom prst="rect">
            <a:avLst/>
          </a:prstGeom>
          <a:solidFill>
            <a:srgbClr val="EEF2F8"/>
          </a:solidFill>
          <a:ln w="12700">
            <a:solidFill>
              <a:srgbClr val="1C34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956816"/>
            <a:ext cx="54864" cy="27432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85216" y="1920240"/>
            <a:ext cx="5257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38"/>
                </a:solidFill>
              </a:rPr>
              <a:t>FastAPI 0.136  —  REST API + OpenAPI docs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459736"/>
            <a:ext cx="54864" cy="27432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85216" y="2423160"/>
            <a:ext cx="5257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38"/>
                </a:solidFill>
              </a:rPr>
              <a:t>Uvicorn  —  ASGI server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2962656"/>
            <a:ext cx="54864" cy="27432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85216" y="2926080"/>
            <a:ext cx="5257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38"/>
                </a:solidFill>
              </a:rPr>
              <a:t>Pydantic v2  —  Request/response validation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09360" y="1417320"/>
            <a:ext cx="5577840" cy="41148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1472184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AI / LLM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309360" y="1828800"/>
            <a:ext cx="5577840" cy="1691640"/>
          </a:xfrm>
          <a:prstGeom prst="rect">
            <a:avLst/>
          </a:prstGeom>
          <a:solidFill>
            <a:srgbClr val="EEF2F8"/>
          </a:solidFill>
          <a:ln w="12700">
            <a:solidFill>
              <a:srgbClr val="F05A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0" y="1956816"/>
            <a:ext cx="54864" cy="27432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28816" y="1920240"/>
            <a:ext cx="5257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38"/>
                </a:solidFill>
              </a:rPr>
              <a:t>OpenAI GPT-4o-mini  —  Chat completions via gateway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0" y="2459736"/>
            <a:ext cx="54864" cy="27432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28816" y="2423160"/>
            <a:ext cx="5257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38"/>
                </a:solidFill>
              </a:rPr>
              <a:t>OpenAI API SDK 1.55  —  Function calling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0" y="2962656"/>
            <a:ext cx="54864" cy="27432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28816" y="2926080"/>
            <a:ext cx="5257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38"/>
                </a:solidFill>
              </a:rPr>
              <a:t>DeepEval (optional)  —  RAG quality metrics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65760" y="3749040"/>
            <a:ext cx="5577840" cy="411480"/>
          </a:xfrm>
          <a:prstGeom prst="rect">
            <a:avLst/>
          </a:prstGeom>
          <a:solidFill>
            <a:srgbClr val="243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3803904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Retrieval &amp; Search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" y="4160520"/>
            <a:ext cx="5577840" cy="1691640"/>
          </a:xfrm>
          <a:prstGeom prst="rect">
            <a:avLst/>
          </a:prstGeom>
          <a:solidFill>
            <a:srgbClr val="EEF2F8"/>
          </a:solidFill>
          <a:ln w="12700">
            <a:solidFill>
              <a:srgbClr val="243D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57200" y="4288536"/>
            <a:ext cx="54864" cy="27432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85216" y="4251960"/>
            <a:ext cx="5257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38"/>
                </a:solidFill>
              </a:rPr>
              <a:t>all-MiniLM-L6-v2  —  384-dim sentence embeddings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57200" y="4791456"/>
            <a:ext cx="54864" cy="27432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85216" y="4754880"/>
            <a:ext cx="5257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38"/>
                </a:solidFill>
              </a:rPr>
              <a:t>BM25Okapi  —  Sparse keyword retrieval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57200" y="5294376"/>
            <a:ext cx="54864" cy="27432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85216" y="5257800"/>
            <a:ext cx="5257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38"/>
                </a:solidFill>
              </a:rPr>
              <a:t>RRF Fusion  —  Reciprocal Rank Fusion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309360" y="3749040"/>
            <a:ext cx="5577840" cy="411480"/>
          </a:xfrm>
          <a:prstGeom prst="rect">
            <a:avLst/>
          </a:prstGeom>
          <a:solidFill>
            <a:srgbClr val="2E4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0" y="3803904"/>
            <a:ext cx="53949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Vector Store &amp; Data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09360" y="4160520"/>
            <a:ext cx="5577840" cy="1691640"/>
          </a:xfrm>
          <a:prstGeom prst="rect">
            <a:avLst/>
          </a:prstGeom>
          <a:solidFill>
            <a:srgbClr val="EEF2F8"/>
          </a:solidFill>
          <a:ln w="12700">
            <a:solidFill>
              <a:srgbClr val="2E4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400800" y="4288536"/>
            <a:ext cx="54864" cy="27432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528816" y="4251960"/>
            <a:ext cx="5257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38"/>
                </a:solidFill>
              </a:rPr>
              <a:t>NumPy + JSON  —  Pure-Python vector store (no MSVC)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400800" y="4791456"/>
            <a:ext cx="54864" cy="27432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528816" y="4754880"/>
            <a:ext cx="5257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38"/>
                </a:solidFill>
              </a:rPr>
              <a:t>tiktoken cl100k_base  —  Token budget mgmt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400800" y="5294376"/>
            <a:ext cx="54864" cy="27432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528816" y="5257800"/>
            <a:ext cx="5257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1A2038"/>
                </a:solidFill>
              </a:rPr>
              <a:t>Pandas + scikit-learn  —  Data processing + IsolationForest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12188952" cy="987552"/>
          </a:xfrm>
          <a:prstGeom prst="rect">
            <a:avLst/>
          </a:prstGeom>
          <a:solidFill>
            <a:srgbClr val="1C34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Evaluation Framework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8D3E8"/>
                </a:solidFill>
              </a:rPr>
              <a:t>Dual validation: DeepEval RAG metrics + custom LLM-as-Judge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88952" cy="54864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5394960" cy="457200"/>
          </a:xfrm>
          <a:prstGeom prst="rect">
            <a:avLst/>
          </a:prstGeom>
          <a:solidFill>
            <a:srgbClr val="1C34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417320"/>
            <a:ext cx="5394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DeepEval — RAG Quality Metrics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965960"/>
            <a:ext cx="5394960" cy="594360"/>
          </a:xfrm>
          <a:prstGeom prst="rect">
            <a:avLst/>
          </a:prstGeom>
          <a:solidFill>
            <a:srgbClr val="EEF2F8"/>
          </a:solidFill>
          <a:ln w="10160">
            <a:solidFill>
              <a:srgbClr val="1C34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2039112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3461"/>
                </a:solidFill>
              </a:rPr>
              <a:t>Answer Relevancy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51760" y="2039112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038"/>
                </a:solidFill>
              </a:rPr>
              <a:t>Does the response answer the query?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120640" y="2057400"/>
            <a:ext cx="594360" cy="384048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20640" y="2057400"/>
            <a:ext cx="594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≥ 0.5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65760" y="2624328"/>
            <a:ext cx="5394960" cy="594360"/>
          </a:xfrm>
          <a:prstGeom prst="rect">
            <a:avLst/>
          </a:prstGeom>
          <a:solidFill>
            <a:srgbClr val="EEF2F8"/>
          </a:solidFill>
          <a:ln w="10160">
            <a:solidFill>
              <a:srgbClr val="1C34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697480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3461"/>
                </a:solidFill>
              </a:rPr>
              <a:t>Faithfulness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51760" y="2697480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038"/>
                </a:solidFill>
              </a:rPr>
              <a:t>Are claims grounded in retrieved context? (anti-hallucination)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20640" y="2715768"/>
            <a:ext cx="594360" cy="384048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20640" y="2715768"/>
            <a:ext cx="594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≥ 0.5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65760" y="3282696"/>
            <a:ext cx="5394960" cy="594360"/>
          </a:xfrm>
          <a:prstGeom prst="rect">
            <a:avLst/>
          </a:prstGeom>
          <a:solidFill>
            <a:srgbClr val="EEF2F8"/>
          </a:solidFill>
          <a:ln w="10160">
            <a:solidFill>
              <a:srgbClr val="1C34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55848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3461"/>
                </a:solidFill>
              </a:rPr>
              <a:t>Contextual Precision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51760" y="3355848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038"/>
                </a:solidFill>
              </a:rPr>
              <a:t>Are retrieved documents relevant to the question?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120640" y="3374136"/>
            <a:ext cx="594360" cy="384048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120640" y="3374136"/>
            <a:ext cx="594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≥ 0.5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3941064"/>
            <a:ext cx="5394960" cy="594360"/>
          </a:xfrm>
          <a:prstGeom prst="rect">
            <a:avLst/>
          </a:prstGeom>
          <a:solidFill>
            <a:srgbClr val="EEF2F8"/>
          </a:solidFill>
          <a:ln w="10160">
            <a:solidFill>
              <a:srgbClr val="1C34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4014216"/>
            <a:ext cx="21945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3461"/>
                </a:solidFill>
              </a:rPr>
              <a:t>Contextual Recall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651760" y="4014216"/>
            <a:ext cx="22860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038"/>
                </a:solidFill>
              </a:rPr>
              <a:t>Does context cover all necessary information?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20640" y="4032504"/>
            <a:ext cx="594360" cy="384048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20640" y="4032504"/>
            <a:ext cx="59436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</a:rPr>
              <a:t>≥ 0.5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217920" y="1417320"/>
            <a:ext cx="5577840" cy="457200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17920" y="1417320"/>
            <a:ext cx="55778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LLM-as-Judge — Business Quality Scoring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17920" y="1965960"/>
            <a:ext cx="5577840" cy="594360"/>
          </a:xfrm>
          <a:prstGeom prst="rect">
            <a:avLst/>
          </a:prstGeom>
          <a:solidFill>
            <a:srgbClr val="EEF2F8"/>
          </a:solidFill>
          <a:ln w="10160">
            <a:solidFill>
              <a:srgbClr val="F05A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355080" y="2039112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05A28"/>
                </a:solidFill>
              </a:rPr>
              <a:t>Relevance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2039112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038"/>
                </a:solidFill>
              </a:rPr>
              <a:t>Are recs tied to the identified risk?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47120" y="210312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3461"/>
                </a:solidFill>
              </a:rPr>
              <a:t>0–10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217920" y="2624328"/>
            <a:ext cx="5577840" cy="594360"/>
          </a:xfrm>
          <a:prstGeom prst="rect">
            <a:avLst/>
          </a:prstGeom>
          <a:solidFill>
            <a:srgbClr val="EEF2F8"/>
          </a:solidFill>
          <a:ln w="10160">
            <a:solidFill>
              <a:srgbClr val="F05A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55080" y="2697480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05A28"/>
                </a:solidFill>
              </a:rPr>
              <a:t>Actionability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138160" y="2697480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038"/>
                </a:solidFill>
              </a:rPr>
              <a:t>Can teams execute these immediately?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247120" y="2761488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3461"/>
                </a:solidFill>
              </a:rPr>
              <a:t>0–10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217920" y="3282696"/>
            <a:ext cx="5577840" cy="594360"/>
          </a:xfrm>
          <a:prstGeom prst="rect">
            <a:avLst/>
          </a:prstGeom>
          <a:solidFill>
            <a:srgbClr val="EEF2F8"/>
          </a:solidFill>
          <a:ln w="10160">
            <a:solidFill>
              <a:srgbClr val="F05A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355080" y="3355848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05A28"/>
                </a:solidFill>
              </a:rPr>
              <a:t>Completeness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38160" y="3355848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038"/>
                </a:solidFill>
              </a:rPr>
              <a:t>All risk dimensions addressed?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247120" y="3419856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3461"/>
                </a:solidFill>
              </a:rPr>
              <a:t>0–10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217920" y="3941064"/>
            <a:ext cx="5577840" cy="594360"/>
          </a:xfrm>
          <a:prstGeom prst="rect">
            <a:avLst/>
          </a:prstGeom>
          <a:solidFill>
            <a:srgbClr val="EEF2F8"/>
          </a:solidFill>
          <a:ln w="10160">
            <a:solidFill>
              <a:srgbClr val="F05A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355080" y="4014216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05A28"/>
                </a:solidFill>
              </a:rPr>
              <a:t>Feasibility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138160" y="4014216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038"/>
                </a:solidFill>
              </a:rPr>
              <a:t>Realistic timelines and owners?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247120" y="4078224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3461"/>
                </a:solidFill>
              </a:rPr>
              <a:t>0–10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217920" y="4599432"/>
            <a:ext cx="5577840" cy="594360"/>
          </a:xfrm>
          <a:prstGeom prst="rect">
            <a:avLst/>
          </a:prstGeom>
          <a:solidFill>
            <a:srgbClr val="EEF2F8"/>
          </a:solidFill>
          <a:ln w="10160">
            <a:solidFill>
              <a:srgbClr val="F05A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55080" y="4672584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05A28"/>
                </a:solidFill>
              </a:rPr>
              <a:t>Evidence-Based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138160" y="4672584"/>
            <a:ext cx="3474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1A2038"/>
                </a:solidFill>
              </a:rPr>
              <a:t>Grounded in historical incidents?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247120" y="473659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1C3461"/>
                </a:solidFill>
              </a:rPr>
              <a:t>0–10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217920" y="5303520"/>
            <a:ext cx="1371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C3461"/>
                </a:solidFill>
              </a:rPr>
              <a:t>Verdict: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217920" y="5285232"/>
            <a:ext cx="1645920" cy="384048"/>
          </a:xfrm>
          <a:prstGeom prst="rect">
            <a:avLst/>
          </a:prstGeom>
          <a:solidFill>
            <a:srgbClr val="0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217920" y="5285232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APPROVED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217922" y="5285232"/>
            <a:ext cx="1783080" cy="384048"/>
          </a:xfrm>
          <a:prstGeom prst="rect">
            <a:avLst/>
          </a:prstGeom>
          <a:solidFill>
            <a:srgbClr val="C4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217922" y="5285232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1A2038"/>
                </a:solidFill>
              </a:rPr>
              <a:t>NEEDS IMPROVEMENT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217924" y="5285232"/>
            <a:ext cx="1645920" cy="384048"/>
          </a:xfrm>
          <a:prstGeom prst="rect">
            <a:avLst/>
          </a:prstGeom>
          <a:solidFill>
            <a:srgbClr val="C82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217924" y="5285232"/>
            <a:ext cx="18288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1" i="0">
                <a:solidFill>
                  <a:srgbClr val="FFFFFF"/>
                </a:solidFill>
              </a:rPr>
              <a:t>REJECTED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12188952" cy="987552"/>
          </a:xfrm>
          <a:prstGeom prst="rect">
            <a:avLst/>
          </a:prstGeom>
          <a:solidFill>
            <a:srgbClr val="1C34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Fallback &amp; Resilience Mechanisms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8D3E8"/>
                </a:solidFill>
              </a:rPr>
              <a:t>9 graceful degradation patterns — system never fails silently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88952" cy="54864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444752"/>
            <a:ext cx="3657600" cy="347472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481328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Embedding Model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792224"/>
            <a:ext cx="3657600" cy="1188720"/>
          </a:xfrm>
          <a:prstGeom prst="rect">
            <a:avLst/>
          </a:prstGeom>
          <a:solidFill>
            <a:srgbClr val="EEF2F8"/>
          </a:solidFill>
          <a:ln w="10160">
            <a:solidFill>
              <a:srgbClr val="F05A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85623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B7A9A"/>
                </a:solidFill>
              </a:rPr>
              <a:t>Trigger: OpenAI /embeddings unreachable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267712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2038"/>
                </a:solidFill>
              </a:rPr>
              <a:t>→  Local all-MiniLM-L6-v2 (384-dim, no API)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1444752"/>
            <a:ext cx="3657600" cy="347472"/>
          </a:xfrm>
          <a:prstGeom prst="rect">
            <a:avLst/>
          </a:prstGeom>
          <a:solidFill>
            <a:srgbClr val="1C34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389120" y="1481328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Vector Store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97680" y="1792224"/>
            <a:ext cx="3657600" cy="1188720"/>
          </a:xfrm>
          <a:prstGeom prst="rect">
            <a:avLst/>
          </a:prstGeom>
          <a:solidFill>
            <a:srgbClr val="EEF2F8"/>
          </a:solidFill>
          <a:ln w="10160">
            <a:solidFill>
              <a:srgbClr val="1C34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89120" y="185623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B7A9A"/>
                </a:solidFill>
              </a:rPr>
              <a:t>Trigger: Model or dimension changed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2267712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2038"/>
                </a:solidFill>
              </a:rPr>
              <a:t>→  Auto-clear stale index + re-ingest on startup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1444752"/>
            <a:ext cx="3657600" cy="347472"/>
          </a:xfrm>
          <a:prstGeom prst="rect">
            <a:avLst/>
          </a:prstGeom>
          <a:solidFill>
            <a:srgbClr val="243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1481328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LLM Parsing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0" y="1792224"/>
            <a:ext cx="3657600" cy="1188720"/>
          </a:xfrm>
          <a:prstGeom prst="rect">
            <a:avLst/>
          </a:prstGeom>
          <a:solidFill>
            <a:srgbClr val="EEF2F8"/>
          </a:solidFill>
          <a:ln w="10160">
            <a:solidFill>
              <a:srgbClr val="243D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21040" y="185623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B7A9A"/>
                </a:solidFill>
              </a:rPr>
              <a:t>Trigger: No PRIORITY blocks in GPT response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2267712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2038"/>
                </a:solidFill>
              </a:rPr>
              <a:t>→  First 5 lines wrapped as generic steps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090672"/>
            <a:ext cx="3657600" cy="347472"/>
          </a:xfrm>
          <a:prstGeom prst="rect">
            <a:avLst/>
          </a:prstGeom>
          <a:solidFill>
            <a:srgbClr val="2E4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3127248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DeepEval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65760" y="3438144"/>
            <a:ext cx="3657600" cy="1188720"/>
          </a:xfrm>
          <a:prstGeom prst="rect">
            <a:avLst/>
          </a:prstGeom>
          <a:solidFill>
            <a:srgbClr val="EEF2F8"/>
          </a:solidFill>
          <a:ln w="10160">
            <a:solidFill>
              <a:srgbClr val="2E4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350215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B7A9A"/>
                </a:solidFill>
              </a:rPr>
              <a:t>Trigger: Library not installed / API error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3913632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2038"/>
                </a:solidFill>
              </a:rPr>
              <a:t>→  Placeholder scores (0.70–0.80) with note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97680" y="3090672"/>
            <a:ext cx="3657600" cy="347472"/>
          </a:xfrm>
          <a:prstGeom prst="rect">
            <a:avLst/>
          </a:prstGeom>
          <a:solidFill>
            <a:srgbClr val="C82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389120" y="3127248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Agent Crash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297680" y="3438144"/>
            <a:ext cx="3657600" cy="1188720"/>
          </a:xfrm>
          <a:prstGeom prst="rect">
            <a:avLst/>
          </a:prstGeom>
          <a:solidFill>
            <a:srgbClr val="EEF2F8"/>
          </a:solidFill>
          <a:ln w="10160">
            <a:solidFill>
              <a:srgbClr val="C820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389120" y="350215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B7A9A"/>
                </a:solidFill>
              </a:rPr>
              <a:t>Trigger: Agent timeout (60s) or exception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120" y="3913632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2038"/>
                </a:solidFill>
              </a:rPr>
              <a:t>→  Stub AgentResult (risk=0.0, manual review)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0" y="3090672"/>
            <a:ext cx="3657600" cy="347472"/>
          </a:xfrm>
          <a:prstGeom prst="rect">
            <a:avLst/>
          </a:prstGeom>
          <a:solidFill>
            <a:srgbClr val="1C34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321040" y="3127248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Agent Routing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0" y="3438144"/>
            <a:ext cx="3657600" cy="1188720"/>
          </a:xfrm>
          <a:prstGeom prst="rect">
            <a:avLst/>
          </a:prstGeom>
          <a:solidFill>
            <a:srgbClr val="EEF2F8"/>
          </a:solidFill>
          <a:ln w="10160">
            <a:solidFill>
              <a:srgbClr val="1C34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321040" y="350215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B7A9A"/>
                </a:solidFill>
              </a:rPr>
              <a:t>Trigger: No keywords match query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3913632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2038"/>
                </a:solidFill>
              </a:rPr>
              <a:t>→  Run all 3 specialist agents (safe default)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4736592"/>
            <a:ext cx="3657600" cy="347472"/>
          </a:xfrm>
          <a:prstGeom prst="rect">
            <a:avLst/>
          </a:prstGeom>
          <a:solidFill>
            <a:srgbClr val="243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" y="4773168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BM25 Index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5084064"/>
            <a:ext cx="3657600" cy="1188720"/>
          </a:xfrm>
          <a:prstGeom prst="rect">
            <a:avLst/>
          </a:prstGeom>
          <a:solidFill>
            <a:srgbClr val="EEF2F8"/>
          </a:solidFill>
          <a:ln w="10160">
            <a:solidFill>
              <a:srgbClr val="243D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457200" y="514807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B7A9A"/>
                </a:solidFill>
              </a:rPr>
              <a:t>Trigger: Index not yet built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5559552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2038"/>
                </a:solidFill>
              </a:rPr>
              <a:t>→  Auto-rebuild from vector store corpus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297680" y="4736592"/>
            <a:ext cx="3657600" cy="347472"/>
          </a:xfrm>
          <a:prstGeom prst="rect">
            <a:avLst/>
          </a:prstGeom>
          <a:solidFill>
            <a:srgbClr val="C4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389120" y="4773168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Server Startup</a:t>
            </a:r>
          </a:p>
        </p:txBody>
      </p:sp>
      <p:sp>
        <p:nvSpPr>
          <p:cNvPr id="44" name="Rectangle 43"/>
          <p:cNvSpPr/>
          <p:nvPr/>
        </p:nvSpPr>
        <p:spPr>
          <a:xfrm>
            <a:off x="4297680" y="5084064"/>
            <a:ext cx="3657600" cy="1188720"/>
          </a:xfrm>
          <a:prstGeom prst="rect">
            <a:avLst/>
          </a:prstGeom>
          <a:solidFill>
            <a:srgbClr val="EEF2F8"/>
          </a:solidFill>
          <a:ln w="10160">
            <a:solidFill>
              <a:srgbClr val="C47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4389120" y="514807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B7A9A"/>
                </a:solidFill>
              </a:rPr>
              <a:t>Trigger: Dataset CSV not found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389120" y="5559552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2038"/>
                </a:solidFill>
              </a:rPr>
              <a:t>→  Server starts with empty store (search → [])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229600" y="4736592"/>
            <a:ext cx="3657600" cy="347472"/>
          </a:xfrm>
          <a:prstGeom prst="rect">
            <a:avLst/>
          </a:prstGeom>
          <a:solidFill>
            <a:srgbClr val="C82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321040" y="4773168"/>
            <a:ext cx="3474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1" i="0">
                <a:solidFill>
                  <a:srgbClr val="FFFFFF"/>
                </a:solidFill>
              </a:rPr>
              <a:t>Gateway Down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8229600" y="5084064"/>
            <a:ext cx="3657600" cy="1188720"/>
          </a:xfrm>
          <a:prstGeom prst="rect">
            <a:avLst/>
          </a:prstGeom>
          <a:solidFill>
            <a:srgbClr val="EEF2F8"/>
          </a:solidFill>
          <a:ln w="10160">
            <a:solidFill>
              <a:srgbClr val="C820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8321040" y="5148072"/>
            <a:ext cx="34747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6B7A9A"/>
                </a:solidFill>
              </a:rPr>
              <a:t>Trigger: LLM chat completions timeout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21040" y="5559552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1" i="0">
                <a:solidFill>
                  <a:srgbClr val="1A2038"/>
                </a:solidFill>
              </a:rPr>
              <a:t>→  Returns 400 with clear actionable message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12188952" cy="987552"/>
          </a:xfrm>
          <a:prstGeom prst="rect">
            <a:avLst/>
          </a:prstGeom>
          <a:solidFill>
            <a:srgbClr val="1C34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5-Tab Frontend Dashboard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8D3E8"/>
                </a:solidFill>
              </a:rPr>
              <a:t>Zero-dependency SPA — no build tools, no npm, opens directly from filesystem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88952" cy="54864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417320"/>
            <a:ext cx="2194560" cy="475488"/>
          </a:xfrm>
          <a:prstGeom prst="rect">
            <a:avLst/>
          </a:prstGeom>
          <a:solidFill>
            <a:srgbClr val="1C34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417320"/>
            <a:ext cx="2194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🔍  Search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1892807"/>
            <a:ext cx="2194560" cy="4434840"/>
          </a:xfrm>
          <a:prstGeom prst="rect">
            <a:avLst/>
          </a:prstGeom>
          <a:solidFill>
            <a:srgbClr val="EEF2F8"/>
          </a:solidFill>
          <a:ln w="15240">
            <a:solidFill>
              <a:srgbClr val="1C34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75488" y="1993392"/>
            <a:ext cx="199339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2038"/>
                </a:solidFill>
              </a:rPr>
              <a:t>Hybrid BM25 + Semantic
natural language incident search
Filters: Severity · Status · Supplier
Latency: 10–40 ms (local embeddings)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06624" y="1417320"/>
            <a:ext cx="2194560" cy="475488"/>
          </a:xfrm>
          <a:prstGeom prst="rect">
            <a:avLst/>
          </a:prstGeom>
          <a:solidFill>
            <a:srgbClr val="243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706624" y="1417320"/>
            <a:ext cx="2194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💡  Recommendations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06624" y="1892807"/>
            <a:ext cx="2194560" cy="4434840"/>
          </a:xfrm>
          <a:prstGeom prst="rect">
            <a:avLst/>
          </a:prstGeom>
          <a:solidFill>
            <a:srgbClr val="EEF2F8"/>
          </a:solidFill>
          <a:ln w="15240">
            <a:solidFill>
              <a:srgbClr val="243D7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16352" y="1993392"/>
            <a:ext cx="199339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2038"/>
                </a:solidFill>
              </a:rPr>
              <a:t>AI-generated mitigation strategies
Risk bars · PRIORITY 1-5 steps
Timeline · Owner · Expected Impact
Optional LLM Judge evaluation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47488" y="1417320"/>
            <a:ext cx="2194560" cy="475488"/>
          </a:xfrm>
          <a:prstGeom prst="rect">
            <a:avLst/>
          </a:prstGeom>
          <a:solidFill>
            <a:srgbClr val="2E4A8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047488" y="1417320"/>
            <a:ext cx="2194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🤖  Multi-Agent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47488" y="1892807"/>
            <a:ext cx="2194560" cy="4434840"/>
          </a:xfrm>
          <a:prstGeom prst="rect">
            <a:avLst/>
          </a:prstGeom>
          <a:solidFill>
            <a:srgbClr val="EEF2F8"/>
          </a:solidFill>
          <a:ln w="15240">
            <a:solidFill>
              <a:srgbClr val="2E4A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157216" y="1993392"/>
            <a:ext cx="199339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2038"/>
                </a:solidFill>
              </a:rPr>
              <a:t>Parallel agent analysis panel
A2A escalation chain display
Proactive alerts · Consolidated risk
All 4 agents visible with scores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388352" y="1417320"/>
            <a:ext cx="2194560" cy="475488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88352" y="1417320"/>
            <a:ext cx="2194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📊  Dashboard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388352" y="1892807"/>
            <a:ext cx="2194560" cy="4434840"/>
          </a:xfrm>
          <a:prstGeom prst="rect">
            <a:avLst/>
          </a:prstGeom>
          <a:solidFill>
            <a:srgbClr val="EEF2F8"/>
          </a:solidFill>
          <a:ln w="15240">
            <a:solidFill>
              <a:srgbClr val="F05A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498080" y="1993392"/>
            <a:ext cx="199339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2038"/>
                </a:solidFill>
              </a:rPr>
              <a:t>Live KPI analytics grid
600 incidents · 302 critical
High-risk suppliers · Stockout locs
Disruption trend (improving/stable/bad)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729216" y="1417320"/>
            <a:ext cx="2194560" cy="475488"/>
          </a:xfrm>
          <a:prstGeom prst="rect">
            <a:avLst/>
          </a:prstGeom>
          <a:solidFill>
            <a:srgbClr val="C82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729216" y="1417320"/>
            <a:ext cx="2194560" cy="4754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⚠️  Anomalies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729216" y="1892807"/>
            <a:ext cx="2194560" cy="4434840"/>
          </a:xfrm>
          <a:prstGeom prst="rect">
            <a:avLst/>
          </a:prstGeom>
          <a:solidFill>
            <a:srgbClr val="EEF2F8"/>
          </a:solidFill>
          <a:ln w="15240">
            <a:solidFill>
              <a:srgbClr val="C8201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838944" y="1993392"/>
            <a:ext cx="1993392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50" b="0" i="0">
                <a:solidFill>
                  <a:srgbClr val="1A2038"/>
                </a:solidFill>
              </a:rPr>
              <a:t>IsolationForest anomaly detection
Z-score feature attribution
Pearson correlation insights
Contamination rate configurable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65760" y="6492240"/>
            <a:ext cx="11430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05A28"/>
                </a:solidFill>
              </a:rPr>
              <a:t>✨  6 clickable sample query chips per tab for easy exploration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4008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4008"/>
            <a:ext cx="12188952" cy="987552"/>
          </a:xfrm>
          <a:prstGeom prst="rect">
            <a:avLst/>
          </a:prstGeom>
          <a:solidFill>
            <a:srgbClr val="1C34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09728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FFFF"/>
                </a:solidFill>
              </a:rPr>
              <a:t>Performance &amp; Results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731520"/>
            <a:ext cx="109728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C8D3E8"/>
                </a:solidFill>
              </a:rPr>
              <a:t>Live test results on 600-incident corpus with local sentence-transformer embeddings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83680"/>
            <a:ext cx="12188952" cy="54864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60" y="1444752"/>
            <a:ext cx="3657600" cy="54864"/>
          </a:xfrm>
          <a:prstGeom prst="rect">
            <a:avLst/>
          </a:prstGeom>
          <a:solidFill>
            <a:srgbClr val="1C346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60" y="1499616"/>
            <a:ext cx="3657600" cy="2057400"/>
          </a:xfrm>
          <a:prstGeom prst="rect">
            <a:avLst/>
          </a:prstGeom>
          <a:solidFill>
            <a:srgbClr val="EEF2F8"/>
          </a:solidFill>
          <a:ln w="10160">
            <a:solidFill>
              <a:srgbClr val="1C34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609344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1C3461"/>
                </a:solidFill>
              </a:rPr>
              <a:t>40 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245059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C3461"/>
                </a:solidFill>
              </a:rPr>
              <a:t>Search Latency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862072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B7A9A"/>
                </a:solidFill>
              </a:rPr>
              <a:t>Hybrid BM25+Semantic (local embeddings)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1444752"/>
            <a:ext cx="3657600" cy="54864"/>
          </a:xfrm>
          <a:prstGeom prst="rect">
            <a:avLst/>
          </a:prstGeom>
          <a:solidFill>
            <a:srgbClr val="243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1499616"/>
            <a:ext cx="3657600" cy="2057400"/>
          </a:xfrm>
          <a:prstGeom prst="rect">
            <a:avLst/>
          </a:prstGeom>
          <a:solidFill>
            <a:srgbClr val="EEF2F8"/>
          </a:solidFill>
          <a:ln w="10160">
            <a:solidFill>
              <a:srgbClr val="1C34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297680" y="1609344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243D72"/>
                </a:solidFill>
              </a:rPr>
              <a:t>600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245059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C3461"/>
                </a:solidFill>
              </a:rPr>
              <a:t>Indexed Incidents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89120" y="2862072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B7A9A"/>
                </a:solidFill>
              </a:rPr>
              <a:t>2024–2026 synthetic supply chain records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0" y="1444752"/>
            <a:ext cx="3657600" cy="54864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0" y="1499616"/>
            <a:ext cx="3657600" cy="2057400"/>
          </a:xfrm>
          <a:prstGeom prst="rect">
            <a:avLst/>
          </a:prstGeom>
          <a:solidFill>
            <a:srgbClr val="EEF2F8"/>
          </a:solidFill>
          <a:ln w="10160">
            <a:solidFill>
              <a:srgbClr val="1C34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0" y="1609344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F05A28"/>
                </a:solidFill>
              </a:rPr>
              <a:t>30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0" y="245059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C3461"/>
                </a:solidFill>
              </a:rPr>
              <a:t>Anomalies Found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21040" y="2862072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B7A9A"/>
                </a:solidFill>
              </a:rPr>
              <a:t>IsolationForest contamination=0.05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65760" y="3776472"/>
            <a:ext cx="3657600" cy="54864"/>
          </a:xfrm>
          <a:prstGeom prst="rect">
            <a:avLst/>
          </a:prstGeom>
          <a:solidFill>
            <a:srgbClr val="C47A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5760" y="3831336"/>
            <a:ext cx="3657600" cy="2057400"/>
          </a:xfrm>
          <a:prstGeom prst="rect">
            <a:avLst/>
          </a:prstGeom>
          <a:solidFill>
            <a:srgbClr val="EEF2F8"/>
          </a:solidFill>
          <a:ln w="10160">
            <a:solidFill>
              <a:srgbClr val="1C34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65760" y="3941064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C47A00"/>
                </a:solidFill>
              </a:rPr>
              <a:t>9.19d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65760" y="478231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C3461"/>
                </a:solidFill>
              </a:rPr>
              <a:t>Avg Delivery Delay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5193792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B7A9A"/>
                </a:solidFill>
              </a:rPr>
              <a:t>Across all incidents (deteriorating trend)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297680" y="3776472"/>
            <a:ext cx="3657600" cy="54864"/>
          </a:xfrm>
          <a:prstGeom prst="rect">
            <a:avLst/>
          </a:prstGeom>
          <a:solidFill>
            <a:srgbClr val="C820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297680" y="3831336"/>
            <a:ext cx="3657600" cy="2057400"/>
          </a:xfrm>
          <a:prstGeom prst="rect">
            <a:avLst/>
          </a:prstGeom>
          <a:solidFill>
            <a:srgbClr val="EEF2F8"/>
          </a:solidFill>
          <a:ln w="10160">
            <a:solidFill>
              <a:srgbClr val="1C34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297680" y="3941064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C8201A"/>
                </a:solidFill>
              </a:rPr>
              <a:t>302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297680" y="478231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C3461"/>
                </a:solidFill>
              </a:rPr>
              <a:t>Critical Incidents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89120" y="5193792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B7A9A"/>
                </a:solidFill>
              </a:rPr>
              <a:t>50.3% of corpus flagged as critical severity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0" y="3776472"/>
            <a:ext cx="3657600" cy="54864"/>
          </a:xfrm>
          <a:prstGeom prst="rect">
            <a:avLst/>
          </a:prstGeom>
          <a:solidFill>
            <a:srgbClr val="0A7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229600" y="3831336"/>
            <a:ext cx="3657600" cy="2057400"/>
          </a:xfrm>
          <a:prstGeom prst="rect">
            <a:avLst/>
          </a:prstGeom>
          <a:solidFill>
            <a:srgbClr val="EEF2F8"/>
          </a:solidFill>
          <a:ln w="10160">
            <a:solidFill>
              <a:srgbClr val="1C346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0" y="3941064"/>
            <a:ext cx="3657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200" b="1" i="0">
                <a:solidFill>
                  <a:srgbClr val="0A7A4A"/>
                </a:solidFill>
              </a:rPr>
              <a:t>4 Agents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29600" y="4782312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1C3461"/>
                </a:solidFill>
              </a:rPr>
              <a:t>Multi-Agent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321040" y="5193792"/>
            <a:ext cx="34747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6B7A9A"/>
                </a:solidFill>
              </a:rPr>
              <a:t>Parallel + A2A escalation in ~22s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F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48272"/>
            <a:ext cx="12188952" cy="109728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09728"/>
            <a:ext cx="91440" cy="6638544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394960" y="1188720"/>
            <a:ext cx="137160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6000" b="0" i="0">
                <a:solidFill>
                  <a:srgbClr val="F05A28"/>
                </a:solidFill>
              </a:rPr>
              <a:t>⬡</a:t>
            </a:r>
          </a:p>
        </p:txBody>
      </p:sp>
      <p:sp>
        <p:nvSpPr>
          <p:cNvPr id="6" name="Rectangle 5"/>
          <p:cNvSpPr/>
          <p:nvPr/>
        </p:nvSpPr>
        <p:spPr>
          <a:xfrm>
            <a:off x="2743200" y="2468880"/>
            <a:ext cx="6675120" cy="36576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828800" y="2606040"/>
            <a:ext cx="85039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</a:rPr>
              <a:t>Thank You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286000" y="3657600"/>
            <a:ext cx="75895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C8D3E8"/>
                </a:solidFill>
              </a:rPr>
              <a:t>AI-Powered Supply Chain Risk Intelligence Assistant</a:t>
            </a:r>
          </a:p>
        </p:txBody>
      </p:sp>
      <p:sp>
        <p:nvSpPr>
          <p:cNvPr id="9" name="Rectangle 8"/>
          <p:cNvSpPr/>
          <p:nvPr/>
        </p:nvSpPr>
        <p:spPr>
          <a:xfrm>
            <a:off x="2743200" y="4251960"/>
            <a:ext cx="6675120" cy="36576"/>
          </a:xfrm>
          <a:prstGeom prst="rect">
            <a:avLst/>
          </a:prstGeom>
          <a:solidFill>
            <a:srgbClr val="F05A2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286000" y="4434840"/>
            <a:ext cx="758952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6B7A9A"/>
                </a:solidFill>
              </a:rPr>
              <a:t>Siddharth SR  |  siddharth.sr@prodapt.com  | 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5212080"/>
            <a:ext cx="1737360" cy="1234440"/>
          </a:xfrm>
          <a:prstGeom prst="rect">
            <a:avLst/>
          </a:prstGeom>
          <a:solidFill>
            <a:srgbClr val="243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188720" y="5285232"/>
            <a:ext cx="17373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05A28"/>
                </a:solidFill>
              </a:rPr>
              <a:t>🔍 Search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5724144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C8D3E8"/>
                </a:solidFill>
              </a:rPr>
              <a:t>Hybrid BM25+Semantic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0" y="5212080"/>
            <a:ext cx="1737360" cy="1234440"/>
          </a:xfrm>
          <a:prstGeom prst="rect">
            <a:avLst/>
          </a:prstGeom>
          <a:solidFill>
            <a:srgbClr val="243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0400" y="5285232"/>
            <a:ext cx="17373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05A28"/>
                </a:solidFill>
              </a:rPr>
              <a:t>🤖 Agents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5724144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C8D3E8"/>
                </a:solidFill>
              </a:rPr>
              <a:t>A2A Escalation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12080" y="5212080"/>
            <a:ext cx="1737360" cy="1234440"/>
          </a:xfrm>
          <a:prstGeom prst="rect">
            <a:avLst/>
          </a:prstGeom>
          <a:solidFill>
            <a:srgbClr val="243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12080" y="5285232"/>
            <a:ext cx="17373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05A28"/>
                </a:solidFill>
              </a:rPr>
              <a:t>📊 Analytics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80" y="5724144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C8D3E8"/>
                </a:solidFill>
              </a:rPr>
              <a:t>IsolationForest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223760" y="5212080"/>
            <a:ext cx="1737360" cy="1234440"/>
          </a:xfrm>
          <a:prstGeom prst="rect">
            <a:avLst/>
          </a:prstGeom>
          <a:solidFill>
            <a:srgbClr val="243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0" y="5285232"/>
            <a:ext cx="17373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05A28"/>
                </a:solidFill>
              </a:rPr>
              <a:t>💡 RAG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223760" y="5724144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C8D3E8"/>
                </a:solidFill>
              </a:rPr>
              <a:t>GPT-4o-mini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235440" y="5212080"/>
            <a:ext cx="1737360" cy="1234440"/>
          </a:xfrm>
          <a:prstGeom prst="rect">
            <a:avLst/>
          </a:prstGeom>
          <a:solidFill>
            <a:srgbClr val="243D7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0" y="5285232"/>
            <a:ext cx="173736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05A28"/>
                </a:solidFill>
              </a:rPr>
              <a:t>🛡️ Eval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5724144"/>
            <a:ext cx="173736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50" b="0" i="0">
                <a:solidFill>
                  <a:srgbClr val="C8D3E8"/>
                </a:solidFill>
              </a:rPr>
              <a:t>LLM-as-Judge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